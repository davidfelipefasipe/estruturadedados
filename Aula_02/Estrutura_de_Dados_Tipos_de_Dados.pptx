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4" r:id="rId11"/>
    <p:sldId id="295" r:id="rId12"/>
    <p:sldId id="296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97" r:id="rId21"/>
    <p:sldId id="298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35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o objetivo geral da aula: sair do conceito de tipo primitivo, passar pela motivação para tipos compostos (arrays e structs), e fechar com Tipos Abstratos de Dados (TADs), usando o exemplo do Retângulo.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24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88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320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504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5486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5486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4630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14630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5FB49C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0" y="512064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0" y="5394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5FB49C"/>
          </a:solidFill>
          <a:ln/>
        </p:spPr>
      </p:sp>
      <p:sp>
        <p:nvSpPr>
          <p:cNvPr id="9" name="Shape 7"/>
          <p:cNvSpPr/>
          <p:nvPr/>
        </p:nvSpPr>
        <p:spPr>
          <a:xfrm>
            <a:off x="10149840" y="48463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Primitivos, Compostos e Abstratos de Dados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Alves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280160" cy="0"/>
          </a:xfrm>
          <a:prstGeom prst="line">
            <a:avLst/>
          </a:prstGeom>
          <a:noFill/>
          <a:ln w="38100">
            <a:solidFill>
              <a:srgbClr val="5FB4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Fasipe</a:t>
            </a:r>
            <a:r>
              <a:rPr lang="en-US" sz="130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300" dirty="0" err="1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Sorriso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28016" cy="10241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6362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11680" y="15544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Primitivos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92024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Definição, bit/byte, operações nativas e representação direta em memória.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5184"/>
            <a:ext cx="128016" cy="1024128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1576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11680" y="270662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p/ Tipos Compostos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072384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volume e coesão; introdução aos Arrays (homogêneos).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6732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67328"/>
            <a:ext cx="128016" cy="1024128"/>
          </a:xfrm>
          <a:prstGeom prst="roundRect">
            <a:avLst/>
          </a:prstGeom>
          <a:solidFill>
            <a:srgbClr val="5FB49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6791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B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011680" y="38587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 e Quadro Comparativo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11680" y="422452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heterogêneos, acesso por campo, e exercício prático (Filme, Aluno, Estoque).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1947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919472"/>
            <a:ext cx="128016" cy="1024128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02005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011680" y="50109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Abstratos de Dados (TAD)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11680" y="5376672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x implementação, encapsulamento e o exemplo do TAD Retângulo.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Tipos de Dados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Primitivos de Dados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alicerce de toda estrutura de dados: o que a linguagem já oferece pronto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Tipos de Dados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Tipo de Dado Primitivo?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3566160"/>
          </a:xfrm>
          <a:prstGeom prst="roundRect">
            <a:avLst>
              <a:gd name="adj" fmla="val 2564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tipo de dado é considerado primitivo quando é fornecido diretamente pela linguagem de programação ou pela arquitetura do processador — não podendo ser decomposto em tipos mais simples.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esquema de armazenamento, todo tipo primitivo define também um conjunto de operações predefinidas sobre os seus valores — nativas na linguagem e transparentes ao programador.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0" y="1600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0" y="2514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2514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3429000"/>
            <a:ext cx="640080" cy="64008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3429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0" y="43434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V/F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4343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01 — Tipos Primitivos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Menor Unidade: Bit e Byte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digiT — a menor unidade de informação que pode ser armazenada ou transmitida.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apenas 2 valores: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57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(falso)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36576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657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(verdadeiro)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Operacional gerencia comandos, arquivos e memória; a memória é o dispositivo que armazena dados de forma temporária ou permanente.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9320" y="1645920"/>
            <a:ext cx="5623560" cy="3749040"/>
          </a:xfrm>
          <a:prstGeom prst="roundRect">
            <a:avLst>
              <a:gd name="adj" fmla="val 2439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874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09360" y="23774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conjunto de 8 bits é denominado um Byte.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063240"/>
            <a:ext cx="548640" cy="548640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31152" y="3063240"/>
            <a:ext cx="548640" cy="548640"/>
          </a:xfrm>
          <a:prstGeom prst="rect">
            <a:avLst/>
          </a:prstGeom>
          <a:solidFill>
            <a:srgbClr val="5FB4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52944" y="3063240"/>
            <a:ext cx="548640" cy="548640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2944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74736" y="3063240"/>
            <a:ext cx="548640" cy="548640"/>
          </a:xfrm>
          <a:prstGeom prst="rect">
            <a:avLst/>
          </a:prstGeom>
          <a:solidFill>
            <a:srgbClr val="5FB4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4736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796528" y="3063240"/>
            <a:ext cx="548640" cy="548640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96528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18320" y="3063240"/>
            <a:ext cx="548640" cy="548640"/>
          </a:xfrm>
          <a:prstGeom prst="rect">
            <a:avLst/>
          </a:prstGeom>
          <a:solidFill>
            <a:srgbClr val="5FB4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40112" y="3063240"/>
            <a:ext cx="548640" cy="548640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40112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661904" y="3063240"/>
            <a:ext cx="548640" cy="548640"/>
          </a:xfrm>
          <a:prstGeom prst="rect">
            <a:avLst/>
          </a:prstGeom>
          <a:solidFill>
            <a:srgbClr val="5FB4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61904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Byte (8 bits)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2976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primitivo ocupa um número fixo de bytes em memória (definido pela linguagem/arquitetura), o que permite operações eficientes e previsíveis sobre seus valores.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01 — Tipos Primitivos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Tipos Primitivos Clássicos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265176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idade = 27;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sem parte fracionária. Suporta soma, subtração, multiplicação, DIV e MOD.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6459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64592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3364992" y="2011680"/>
            <a:ext cx="265176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645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47872" y="23774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3547872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peso = 68.5;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47872" y="3063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com parte fracionária (ponto flutuante), para medidas e cálculos contínuos.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1344" y="16459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164592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5FB49C"/>
          </a:solidFill>
          <a:ln/>
        </p:spPr>
      </p:sp>
      <p:sp>
        <p:nvSpPr>
          <p:cNvPr id="20" name="Shape 18"/>
          <p:cNvSpPr/>
          <p:nvPr/>
        </p:nvSpPr>
        <p:spPr>
          <a:xfrm>
            <a:off x="6181344" y="2011680"/>
            <a:ext cx="2651760" cy="137160"/>
          </a:xfrm>
          <a:prstGeom prst="rect">
            <a:avLst/>
          </a:prstGeom>
          <a:solidFill>
            <a:srgbClr val="5FB49C"/>
          </a:solidFill>
          <a:ln/>
        </p:spPr>
      </p:sp>
      <p:sp>
        <p:nvSpPr>
          <p:cNvPr id="21" name="Text 19"/>
          <p:cNvSpPr/>
          <p:nvPr/>
        </p:nvSpPr>
        <p:spPr>
          <a:xfrm>
            <a:off x="6181344" y="1645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64224" y="23774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364224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letra = 'A';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64224" y="3063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símbolo — letra, dígito ou sinal — armazenado conforme uma tabela (ASCII/Unicode).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97696" y="164592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97696" y="164592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21295C"/>
          </a:solidFill>
          <a:ln/>
        </p:spPr>
      </p:sp>
      <p:sp>
        <p:nvSpPr>
          <p:cNvPr id="27" name="Shape 25"/>
          <p:cNvSpPr/>
          <p:nvPr/>
        </p:nvSpPr>
        <p:spPr>
          <a:xfrm>
            <a:off x="8997696" y="2011680"/>
            <a:ext cx="2651760" cy="1371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8997696" y="1645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Booleano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80576" y="23774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9180576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ativo = true;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80576" y="3063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dois valores possíveis: verdadeiro ou falso — base da lógica condicional.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01 — Tipos Primitivos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Tipo Define seu Próprio Conjunto de Operações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as operações aritméticas válidas para variáveis do tipo inteiro (int)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97480" y="18288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057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8892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18288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2057400"/>
            <a:ext cx="822960" cy="82296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Multiplicação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95160" y="18288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866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inteira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0" y="18288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38360" y="2057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973836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 da divisão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0690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operações são implementadas de forma nativa por qualquer linguagem de programação, e seu funcionamento interno fica transparente ao usuário — basta escrever a + b e o compilador resolve o resto.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01 — Tipos Primitivos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Direto x Referência: a Diferença Essencial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Primitivo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 valor diretamente no espaço de memória alocado para a variável.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61188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11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14600" y="3611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27 está fisicamente ali, no endereço da variável.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78040" y="19659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/ Ponteiro / Composto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26974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uma referência que aponta para uma coleção de dados em outro local da memória.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92240" y="361188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611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3840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0x7A1F 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0" y="3611880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5FB49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611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nome, idade, curso, ... 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01 — Tipos Primitivos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8046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Questões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4480560"/>
          </a:xfrm>
          <a:prstGeom prst="roundRect">
            <a:avLst>
              <a:gd name="adj" fmla="val 204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10332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r>
              <a:rPr lang="en-US" sz="1600" dirty="0">
                <a:solidFill>
                  <a:srgbClr val="FFFFFF"/>
                </a:solidFill>
              </a:rPr>
              <a:t>Cite 3 exemplos de tipo primitivo usados no seu dia a dia de programação e diga quantos bytes cada um costuma ocupar.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r>
              <a:rPr lang="en-US" sz="1600" dirty="0">
                <a:solidFill>
                  <a:srgbClr val="FFFFFF"/>
                </a:solidFill>
              </a:rPr>
              <a:t>Por que dizemos que as operações de um tipo primitivo são 'transparentes ao usuário'?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r>
              <a:rPr lang="en-US" sz="1600" dirty="0">
                <a:solidFill>
                  <a:srgbClr val="FFFFFF"/>
                </a:solidFill>
              </a:rPr>
              <a:t>Dê um exemplo de situação em que um único inteiro ou booleano NÃO seria suficiente para representar a informação — o que falta?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Pausa para atividade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8046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r>
              <a:rPr lang="en-US" sz="2400" dirty="0">
                <a:solidFill>
                  <a:srgbClr val="FFFFFF"/>
                </a:solidFill>
              </a:rPr>
              <a:t>Cite 3 </a:t>
            </a:r>
            <a:r>
              <a:rPr lang="en-US" sz="2400" dirty="0" err="1">
                <a:solidFill>
                  <a:srgbClr val="FFFFFF"/>
                </a:solidFill>
              </a:rPr>
              <a:t>exemplos</a:t>
            </a:r>
            <a:r>
              <a:rPr lang="en-US" sz="2400" dirty="0">
                <a:solidFill>
                  <a:srgbClr val="FFFFFF"/>
                </a:solidFill>
              </a:rPr>
              <a:t> de </a:t>
            </a:r>
            <a:r>
              <a:rPr lang="en-US" sz="2400" dirty="0" err="1">
                <a:solidFill>
                  <a:srgbClr val="FFFFFF"/>
                </a:solidFill>
              </a:rPr>
              <a:t>tipo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primitivo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usados</a:t>
            </a:r>
            <a:r>
              <a:rPr lang="en-US" sz="2400" dirty="0">
                <a:solidFill>
                  <a:srgbClr val="FFFFFF"/>
                </a:solidFill>
              </a:rPr>
              <a:t> no </a:t>
            </a:r>
            <a:r>
              <a:rPr lang="en-US" sz="2400" dirty="0" err="1">
                <a:solidFill>
                  <a:srgbClr val="FFFFFF"/>
                </a:solidFill>
              </a:rPr>
              <a:t>seu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dia</a:t>
            </a:r>
            <a:r>
              <a:rPr lang="en-US" sz="2400" dirty="0">
                <a:solidFill>
                  <a:srgbClr val="FFFFFF"/>
                </a:solidFill>
              </a:rPr>
              <a:t> a </a:t>
            </a:r>
            <a:r>
              <a:rPr lang="en-US" sz="2400" dirty="0" err="1">
                <a:solidFill>
                  <a:srgbClr val="FFFFFF"/>
                </a:solidFill>
              </a:rPr>
              <a:t>dia</a:t>
            </a:r>
            <a:r>
              <a:rPr lang="en-US" sz="2400" dirty="0">
                <a:solidFill>
                  <a:srgbClr val="FFFFFF"/>
                </a:solidFill>
              </a:rPr>
              <a:t> de </a:t>
            </a:r>
            <a:r>
              <a:rPr lang="en-US" sz="2400" dirty="0" err="1">
                <a:solidFill>
                  <a:srgbClr val="FFFFFF"/>
                </a:solidFill>
              </a:rPr>
              <a:t>programação</a:t>
            </a:r>
            <a:r>
              <a:rPr lang="en-US" sz="2400" dirty="0">
                <a:solidFill>
                  <a:srgbClr val="FFFFFF"/>
                </a:solidFill>
              </a:rPr>
              <a:t> e </a:t>
            </a:r>
            <a:r>
              <a:rPr lang="en-US" sz="2400" dirty="0" err="1">
                <a:solidFill>
                  <a:srgbClr val="FFFFFF"/>
                </a:solidFill>
              </a:rPr>
              <a:t>diga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quantos</a:t>
            </a:r>
            <a:r>
              <a:rPr lang="en-US" sz="2400" dirty="0">
                <a:solidFill>
                  <a:srgbClr val="FFFFFF"/>
                </a:solidFill>
              </a:rPr>
              <a:t> bytes </a:t>
            </a:r>
            <a:r>
              <a:rPr lang="en-US" sz="2400" dirty="0" err="1">
                <a:solidFill>
                  <a:srgbClr val="FFFFFF"/>
                </a:solidFill>
              </a:rPr>
              <a:t>cada</a:t>
            </a:r>
            <a:r>
              <a:rPr lang="en-US" sz="2400" dirty="0">
                <a:solidFill>
                  <a:srgbClr val="FFFFFF"/>
                </a:solidFill>
              </a:rPr>
              <a:t> um </a:t>
            </a:r>
            <a:r>
              <a:rPr lang="en-US" sz="2400" dirty="0" err="1">
                <a:solidFill>
                  <a:srgbClr val="FFFFFF"/>
                </a:solidFill>
              </a:rPr>
              <a:t>costuma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ocupar</a:t>
            </a:r>
            <a:r>
              <a:rPr lang="en-US" sz="2400" dirty="0">
                <a:solidFill>
                  <a:srgbClr val="FFFFFF"/>
                </a:solidFill>
              </a:rPr>
              <a:t>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10332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Pausa para atividade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CCE5480-1FA0-4EB5-A8CA-EDB03B86E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857" y="1993392"/>
            <a:ext cx="8367485" cy="29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00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8046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10332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Pausa para atividade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E704084-7EF8-482C-8D86-3E382EE95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040" y="772227"/>
            <a:ext cx="10409382" cy="48936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Por que as operações de um tipo primitivo são “transparentes ao usuário”?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Porque o programador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não precisa se preocupar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 os detalhes de como a operação é realizada internamente pelo processador.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Quando você escreve: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0991B6"/>
                </a:solidFill>
                <a:effectLst/>
                <a:latin typeface="Arial Unicode MS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2339"/>
                </a:solidFill>
                <a:effectLst/>
                <a:latin typeface="Arial Unicode MS"/>
              </a:rPr>
              <a:t> a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7B30D0"/>
                </a:solidFill>
                <a:effectLst/>
                <a:latin typeface="Arial Unicode MS"/>
              </a:rPr>
              <a:t>=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174781"/>
                </a:solidFill>
                <a:effectLst/>
                <a:latin typeface="Arial Unicode MS"/>
              </a:rPr>
              <a:t> 10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2339"/>
                </a:solidFill>
                <a:effectLst/>
                <a:latin typeface="Arial Unicode MS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0991B6"/>
                </a:solidFill>
                <a:effectLst/>
                <a:latin typeface="Arial Unicode MS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2339"/>
                </a:solidFill>
                <a:effectLst/>
                <a:latin typeface="Arial Unicode MS"/>
              </a:rPr>
              <a:t> b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7B30D0"/>
                </a:solidFill>
                <a:effectLst/>
                <a:latin typeface="Arial Unicode MS"/>
              </a:rPr>
              <a:t>=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174781"/>
                </a:solidFill>
                <a:effectLst/>
                <a:latin typeface="Arial Unicode MS"/>
              </a:rPr>
              <a:t> 20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2339"/>
                </a:solidFill>
                <a:effectLst/>
                <a:latin typeface="Arial Unicode MS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0991B6"/>
                </a:solidFill>
                <a:effectLst/>
                <a:latin typeface="Arial Unicode MS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2339"/>
                </a:solidFill>
                <a:effectLst/>
                <a:latin typeface="Arial Unicode MS"/>
              </a:rPr>
              <a:t> c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7B30D0"/>
                </a:solidFill>
                <a:effectLst/>
                <a:latin typeface="Arial Unicode MS"/>
              </a:rPr>
              <a:t>=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2339"/>
                </a:solidFill>
                <a:effectLst/>
                <a:latin typeface="Arial Unicode MS"/>
              </a:rPr>
              <a:t> a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7B30D0"/>
                </a:solidFill>
                <a:effectLst/>
                <a:latin typeface="Arial Unicode MS"/>
              </a:rPr>
              <a:t>+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2339"/>
                </a:solidFill>
                <a:effectLst/>
                <a:latin typeface="Arial Unicode MS"/>
              </a:rPr>
              <a:t> b;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Você só pensa na operação matemática “somar”. O compilador e o processador cuidam 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converter os números para binário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usar os registradores da CPU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lidar com o overflow (ou não)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gerar o código de máquina correspondente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 seja, a complexidade do hardware fica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escondida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(transparente) para o programador. Você trabalha com uma abstração limpa e simples.</a:t>
            </a:r>
          </a:p>
        </p:txBody>
      </p:sp>
    </p:spTree>
    <p:extLst>
      <p:ext uri="{BB962C8B-B14F-4D97-AF65-F5344CB8AC3E}">
        <p14:creationId xmlns:p14="http://schemas.microsoft.com/office/powerpoint/2010/main" val="2698022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8046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10332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Pausa para atividade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6E8F5CF-24DF-42E6-BC40-0BB3E067CB9A}"/>
              </a:ext>
            </a:extLst>
          </p:cNvPr>
          <p:cNvSpPr/>
          <p:nvPr/>
        </p:nvSpPr>
        <p:spPr>
          <a:xfrm>
            <a:off x="1801091" y="628073"/>
            <a:ext cx="9930661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400" b="1" dirty="0"/>
              <a:t>Situação em que um único inteiro ou booleano não é suficiente</a:t>
            </a:r>
            <a:endParaRPr lang="pt-BR" sz="2400" dirty="0"/>
          </a:p>
          <a:p>
            <a:endParaRPr lang="pt-BR" sz="2400" b="1" dirty="0"/>
          </a:p>
          <a:p>
            <a:r>
              <a:rPr lang="pt-BR" sz="2400" b="1" dirty="0"/>
              <a:t>Exemplo:</a:t>
            </a:r>
            <a:r>
              <a:rPr lang="pt-BR" sz="2400" dirty="0"/>
              <a:t> Representar um aluno.</a:t>
            </a:r>
          </a:p>
          <a:p>
            <a:endParaRPr lang="pt-BR" sz="2400" dirty="0"/>
          </a:p>
          <a:p>
            <a:r>
              <a:rPr lang="pt-BR" sz="2400" dirty="0"/>
              <a:t>Com um único </a:t>
            </a:r>
            <a:r>
              <a:rPr lang="pt-BR" sz="2400" dirty="0" err="1"/>
              <a:t>int</a:t>
            </a:r>
            <a:r>
              <a:rPr lang="pt-BR" sz="2400" dirty="0"/>
              <a:t> ou </a:t>
            </a:r>
            <a:r>
              <a:rPr lang="pt-BR" sz="2400" dirty="0" err="1"/>
              <a:t>bool</a:t>
            </a:r>
            <a:r>
              <a:rPr lang="pt-BR" sz="2400" dirty="0"/>
              <a:t> eu consigo guardar apenas </a:t>
            </a:r>
            <a:r>
              <a:rPr lang="pt-BR" sz="2400" b="1" dirty="0"/>
              <a:t>uma</a:t>
            </a:r>
            <a:r>
              <a:rPr lang="pt-BR" sz="2400" dirty="0"/>
              <a:t> informação (idade, ou se está aprovado, etc.).</a:t>
            </a:r>
          </a:p>
          <a:p>
            <a:r>
              <a:rPr lang="pt-BR" sz="2400" dirty="0"/>
              <a:t>Mas um aluno real precisa de várias informações juntas: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 Nome (texto)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 Idade (inteiro)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 Nota (</a:t>
            </a:r>
            <a:r>
              <a:rPr lang="pt-BR" sz="2400" dirty="0" err="1"/>
              <a:t>float</a:t>
            </a:r>
            <a:r>
              <a:rPr lang="pt-BR"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 Está matriculado? (booleano)</a:t>
            </a:r>
          </a:p>
          <a:p>
            <a:endParaRPr lang="pt-BR" sz="2400" dirty="0"/>
          </a:p>
          <a:p>
            <a:r>
              <a:rPr lang="pt-BR" sz="2400" dirty="0"/>
              <a:t>O que falta é a capacidade de </a:t>
            </a:r>
            <a:r>
              <a:rPr lang="pt-BR" sz="2400" b="1" dirty="0"/>
              <a:t>agrupar várias informações relacionadas</a:t>
            </a:r>
            <a:r>
              <a:rPr lang="pt-BR" sz="2400" dirty="0"/>
              <a:t> em uma única entidade. É exatamente para isso que servem as </a:t>
            </a:r>
            <a:r>
              <a:rPr lang="pt-BR" sz="2400" b="1" dirty="0"/>
              <a:t>estruturas</a:t>
            </a:r>
            <a:r>
              <a:rPr lang="pt-BR" sz="2400" dirty="0"/>
              <a:t> (</a:t>
            </a:r>
            <a:r>
              <a:rPr lang="pt-BR" sz="2400" dirty="0" err="1"/>
              <a:t>struct</a:t>
            </a:r>
            <a:r>
              <a:rPr lang="pt-BR" sz="2400" dirty="0"/>
              <a:t> em C):</a:t>
            </a:r>
            <a:endParaRPr lang="pt-BR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1338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Motivação para Tipos Compostos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tipos primitivos, sozinhos, não bastam?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Tipos de Dados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1 — Volume: Necessidade de Homogeneidade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armazenar as notas de 100 alunos de uma turma? Criar 100 variáveis soltas (nota1, nota2, ..., nota100) é viável?”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  nota2  nota3  nota4  ...  nota100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variáveis desconectadas — sem repetição possível, sem noção de conjunto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566160" y="40233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41605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 agrupar múltiplos dados do MESMO TIPO sob um único nome, manipulável por repetição.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40480" y="5486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Vetores / Arrays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02 — Motivação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2 — Coesão: Necessidade de Heterogeneidade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representar a entidade Aluno no sistema? Precisamos de nome, idade, coeficiente e situação ativa. Ter 4 variáveis soltas faz o código perder a noção de que esses dados pertencem à mesma entidade.”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5584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776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32461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335584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776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32461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5FB49C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335584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coeficiente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3776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69680" y="32461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0" y="335584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69680" y="3776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4526280"/>
            <a:ext cx="777240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466344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 de uma estrutura que agrupe dados de TIPOS DIFERENTES sob o mesmo conceito do mundo real.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468880" y="53492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B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Structs / Objetos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02 — Motivação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Mundo Real Não é Feito de Dados Isolados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D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CPU armazena e manipula um inteiro, um float ou um caractere por vez. Um produto em um e-commerce tem nome, preço, estoque e código de barras. Uma lista de compras tem centenas de itens. Se continuássemos usando apenas primitivos soltos, nossos programas teriam milhares de variáveis desconectadas.”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0" y="1508760"/>
            <a:ext cx="4297680" cy="4434840"/>
          </a:xfrm>
          <a:prstGeom prst="roundRect">
            <a:avLst>
              <a:gd name="adj" fmla="val 2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FB4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(e-commerce)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2194560"/>
            <a:ext cx="374904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21945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nome: texto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2880360"/>
            <a:ext cx="374904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2880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preco: real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89520" y="3566160"/>
            <a:ext cx="374904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35661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estoque: inteiro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4251960"/>
            <a:ext cx="374904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4251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codigoBarras: texto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0" y="50749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 compor tipos básicos para criar estruturas complexas e organizar a memória de forma eficiente.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02 — Motivação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COMPOSTOS HOMOGÊNEOS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Solução: Vetores / Arrays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03120" y="1691640"/>
            <a:ext cx="1143000" cy="68580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16916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22860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1143000" cy="685800"/>
          </a:xfrm>
          <a:prstGeom prst="rect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916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2860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1143000" cy="68580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916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06440" y="1691640"/>
            <a:ext cx="1143000" cy="685800"/>
          </a:xfrm>
          <a:prstGeom prst="rect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6916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06440" y="22860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1691640"/>
            <a:ext cx="1143000" cy="68580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6916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2860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75320" y="1691640"/>
            <a:ext cx="1143000" cy="685800"/>
          </a:xfrm>
          <a:prstGeom prst="rect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6916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22860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09760" y="1691640"/>
            <a:ext cx="1143000" cy="68580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16916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09760" y="22860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2514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Homogêneo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3520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elementos possuem exatamente o mesmo tipo de dado (ex.: todos reais).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3200400"/>
            <a:ext cx="457200" cy="45720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2084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índice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3520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é acessado por sua posição numérica: notas[0], notas[1], ...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43000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Manipulável por repetição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43000" y="4937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repetição (para/while) percorrem todo o conjunto com poucas linhas de código.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4617720"/>
            <a:ext cx="457200" cy="45720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20840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definido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20840" y="4937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reserva um bloco contíguo de memória, dimensionado para o número de elementos.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02 — Arrays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COMPOSTOS HOMOGÊNEOS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em Pseudocódigo — Declaração e Uso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434840"/>
          </a:xfrm>
          <a:prstGeom prst="roundRect">
            <a:avLst>
              <a:gd name="adj" fmla="val 1649"/>
            </a:avLst>
          </a:prstGeom>
          <a:solidFill>
            <a:srgbClr val="101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 notas[100]: real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0 ate 99 faca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escreva("Digite a nota do aluno ", i)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leia(notas[i])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&lt;- 0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0 ate 99 faca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&lt;- soma + notas[i]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&lt;- soma / 100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escreva("Media da turma: ", media)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02 — Arrays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RÁPIDO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8046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Pense e Responda: Vetores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4480560"/>
          </a:xfrm>
          <a:prstGeom prst="roundRect">
            <a:avLst>
              <a:gd name="adj" fmla="val 204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10332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r>
              <a:rPr lang="en-US" sz="1600" dirty="0">
                <a:solidFill>
                  <a:srgbClr val="FFFFFF"/>
                </a:solidFill>
              </a:rPr>
              <a:t>Como você escreveria, em pseudocódigo, um vetor para armazenar as idades de 30 funcionários?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r>
              <a:rPr lang="en-US" sz="1600" dirty="0">
                <a:solidFill>
                  <a:srgbClr val="FFFFFF"/>
                </a:solidFill>
              </a:rPr>
              <a:t>Se quisermos encontrar a MAIOR nota do vetor 'notas', que estrutura de repetição e variável auxiliar seriam </a:t>
            </a:r>
            <a:r>
              <a:rPr lang="en-US" sz="1600" dirty="0" err="1">
                <a:solidFill>
                  <a:srgbClr val="FFFFFF"/>
                </a:solidFill>
              </a:rPr>
              <a:t>necessárias</a:t>
            </a:r>
            <a:r>
              <a:rPr lang="en-US" sz="1600" dirty="0">
                <a:solidFill>
                  <a:srgbClr val="FFFFFF"/>
                </a:solidFill>
              </a:rPr>
              <a:t>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Pausa para atividade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Pausa para atividade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31D59E1-8D1E-4FD3-B0E7-6E944B7B9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160" y="1837543"/>
            <a:ext cx="10121153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Vetor para armazenar as idades de 30 funcionários (pseudocódigo)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2339"/>
                </a:solidFill>
                <a:effectLst/>
                <a:latin typeface="Arial Unicode MS"/>
              </a:rPr>
              <a:t>declare idade[30] // vetor de 30 posições para inteiros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400" dirty="0">
              <a:solidFill>
                <a:srgbClr val="002339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2339"/>
                </a:solidFill>
                <a:effectLst/>
                <a:latin typeface="Arial Unicode MS"/>
              </a:rPr>
              <a:t>para i de 0 até 29 faça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2339"/>
                </a:solidFill>
                <a:effectLst/>
                <a:latin typeface="Arial Unicode MS"/>
              </a:rPr>
              <a:t>	leia idade[i]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2339"/>
                </a:solidFill>
                <a:effectLst/>
                <a:latin typeface="Arial Unicode MS"/>
              </a:rPr>
              <a:t>fim_para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053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Pausa para atividade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EC5F140-AFAF-4070-8C74-5E267A054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719" y="318254"/>
            <a:ext cx="9359152" cy="60016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Encontrar a MAIOR nota no vetor notas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Estrutura de repetição necessária: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(for)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Variável auxiliar necessária: uma variável para guardar a maior nota encontrada (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maior)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rgbClr val="002339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400" dirty="0">
              <a:solidFill>
                <a:srgbClr val="002339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maior ← notas[0] // começa assumindo que a primeira é a maior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4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para i de 1 até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tamanho_do_vetor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 - 1 faça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400" dirty="0">
                <a:latin typeface="Arial Unicode MS"/>
              </a:rPr>
              <a:t>	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se notas[i] &gt; maior então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400" dirty="0">
                <a:latin typeface="Arial Unicode MS"/>
              </a:rPr>
              <a:t>		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maior ← notas[i]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400" dirty="0">
                <a:latin typeface="Arial Unicode MS"/>
              </a:rPr>
              <a:t>	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fim_se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fim_para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escreva "A maior nota é: ", maior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599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FB4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Structs e o Quadro Comparativo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Agrupando dados heterogêneos sob um único conceito do mundo real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Tipos de Dados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COMPOSTOS HETEROGÊNEOS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Structs / Registros: Definição e Acesso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Aluno = registro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 texto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idade: inteiro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coeficiente: real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ativo: booleano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fimregistro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struct envolve um conjunto de campos organizados de forma coerente — o tamanho total da estrutura é a soma dos tamanhos dos campos.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600200"/>
            <a:ext cx="5669280" cy="3840480"/>
          </a:xfrm>
          <a:prstGeom prst="roundRect">
            <a:avLst>
              <a:gd name="adj" fmla="val 2381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nome do campo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aluno.nome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aluno.idade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3474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aluno.coeficiente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4160520"/>
            <a:ext cx="51206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217920" y="43434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array (índice numérico), cada campo tem um nome que expressa seu significado dentro da entidade representada.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— Structs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 Comparativo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908703"/>
              </p:ext>
            </p:extLst>
          </p:nvPr>
        </p:nvGraphicFramePr>
        <p:xfrm>
          <a:off x="548640" y="1600200"/>
          <a:ext cx="11064240" cy="38404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Primitivo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Composto Homogêneo (Array)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Composto Heterogêneo (Struct)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único valor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Múltiplos valores do mesmo tipo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Múltiplos valores de tipos diferentes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aos dados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 nome da variável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índice numérico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(notas[0])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nome do campo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(aluno.nome)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idade = 27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notas[3] = 8.0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aluno.nome = “Felipe”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— Structs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Estruturas se Organizam na Memória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tamanho total de uma struct corresponde à soma dos tamanhos dos campos que a compõem.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291840" cy="640080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(20 bytes)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2331720"/>
            <a:ext cx="2011680" cy="640080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(4 bytes)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2377440" cy="640080"/>
          </a:xfrm>
          <a:prstGeom prst="rect">
            <a:avLst/>
          </a:prstGeom>
          <a:solidFill>
            <a:srgbClr val="5FB4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coeficiente (4 bytes)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49640" y="2331720"/>
            <a:ext cx="1737360" cy="640080"/>
          </a:xfrm>
          <a:prstGeom prst="rect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2331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ativo (1 byte)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49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Homogêneas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de dados formados por componentes do MESMO tipo de dado. Ex.: array de reais, array de inteiros.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5661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749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Heterogêneas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1605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de dados formados por componentes pertencentes a tipos DIFERENTES. Ex.: struct Aluno, struct Produto.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— Structs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Limitação Importante dos Tipos Estruturados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dos tipos primitivos — onde soma, subtração etc. já vêm prontas na linguagem — os tipos estruturados definidos pelo usuário (structs) fornecem apenas o ESQUEMA DE ARMAZENAMENTO.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existe, por padrão, uma forma pronta de "somar dois Alunos" ou "comparar dois Filmes". Os algoritmos de manipulação precisam ser desenvolvidos pelo próprio programador para possibilitar o uso correto dessas novas estruturas.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343400"/>
            <a:ext cx="10424160" cy="1005840"/>
          </a:xfrm>
          <a:prstGeom prst="roundRect">
            <a:avLst>
              <a:gd name="adj" fmla="val 7273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4805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lacuna — estrutura sem operações — é exatamente o problema que os Tipos Abstratos de Dados (TAD) resolvem, como veremos no Bloco 4.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— Structs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PRÁTICO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Defina Tipos Estruturados para Três Cenários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defina, em pseudocódigo, um tipo de dado estruturado que descreva de forma adequada e completa as informações de cada cenário abaixo.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200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32004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diretor, gênero, duração, ano, classificação indicativa e avaliação média.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5112" y="297180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3200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39512" y="32004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39319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matrícula, dados pessoais (reutilizando um tipo Pessoa), curso, semestre e situação.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01584" y="297180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0184" y="3200400"/>
            <a:ext cx="548640" cy="54864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8" name="Text 16"/>
          <p:cNvSpPr/>
          <p:nvPr/>
        </p:nvSpPr>
        <p:spPr>
          <a:xfrm>
            <a:off x="8330184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15984" y="32004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de Estoque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75904" y="39319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nome, categoria, quantidade, estoque mínimo, preço de custo e de venda.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— Exercício prático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— REUSO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Auxiliares Reutilizáveis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101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Data = registro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dia: inteiro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mes: inteiro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ano: inteiro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fimregistro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Pessoa = registro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cpf: texto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 texto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dataNascimento: Data      // composição: Pessoa usa Data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telefone: texto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texto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fimregistro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prática: extrair sub-estruturas (Data, Pessoa) evita repetição e permite reuso em vários tipos.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— Exercício prático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CASO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</a:t>
            </a: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Tipo Filme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101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Filme = registro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titulo: texto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diretor: texto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genero: texto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duracaoMinutos: inteiro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anoLancamento: inteiro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classificacaoIndicativa: texto   // Ex: "Livre", "14 anos", "18 anos"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avaliacaoMedia: real             // Ex: 8.7 (nota de 0.0 a 10.0)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fimregistro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campo escolhe o tipo primitivo mais adequado ao dado que representa.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— Exercício prático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CASO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</a:t>
            </a: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Tipo Aluno — Composição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101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Aluno = registro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matricula: texto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dadosPessoais: Pessoa        // reutiliza o tipo estruturado Pessoa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curso: texto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semestreAtual: inteiro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coeficienteRendimento: real  // media ponderada de notas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situacaoMatricula: texto     // Ex: "Ativo", "Trancado", "Concluido"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fimregistro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Composição: um struct pode conter outro struct como campo (Aluno contém Pessoa).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— Exercício prático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CASO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</a:t>
            </a: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Tipo Item de Estoque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101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ItemEstoque = registro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codigoSKU: inteiro          // identificador unico do produto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nomeProduto: texto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categoria: texto            // Ex: "Perifericos", "Alimentos", "Limpeza"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quantidadeEstoque: inteiro  // saldo fisico atual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estoqueMinimo: inteiro      // ponto de reposicao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precoCusto: real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precoVenda: real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fimregistro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cenários seguem o mesmo raciocínio: identificar as propriedades da entidade e escolher o tipo primitivo (ou estruturado) certo para cada uma.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— Exercício prático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5FB4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8046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 Além: Amplie as Estruturas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4480560"/>
          </a:xfrm>
          <a:prstGeom prst="roundRect">
            <a:avLst>
              <a:gd name="adj" fmla="val 204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10332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r>
              <a:rPr lang="en-US" sz="1600" dirty="0">
                <a:solidFill>
                  <a:srgbClr val="FFFFFF"/>
                </a:solidFill>
              </a:rPr>
              <a:t>Que outros campos poderiam ser úteis no tipo Filme (elenco? idioma? plataforma de streaming)?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r>
              <a:rPr lang="en-US" sz="1600" dirty="0">
                <a:solidFill>
                  <a:srgbClr val="FFFFFF"/>
                </a:solidFill>
              </a:rPr>
              <a:t>O tipo Aluno reutiliza Pessoa por composição. Que outro tipo do dia a dia poderia reutilizar Pessoa (ex.: Funcionário, </a:t>
            </a:r>
            <a:r>
              <a:rPr lang="en-US" sz="1600" dirty="0" err="1">
                <a:solidFill>
                  <a:srgbClr val="FFFFFF"/>
                </a:solidFill>
              </a:rPr>
              <a:t>Cliente</a:t>
            </a:r>
            <a:r>
              <a:rPr lang="en-US" sz="1600" dirty="0">
                <a:solidFill>
                  <a:srgbClr val="FFFFFF"/>
                </a:solidFill>
              </a:rPr>
              <a:t>)?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Pausa para atividade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Abstratos de Dados (TAD)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estrutura de dados ganha suas próprias operações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Tipos de Dados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Tipo Abstrato de Dados?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tipo de dado definido pelo usuário, incrementado com a definição e implementação das operações necessárias para a sua manipulação.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0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 esquema de armazenamento (campos e tipos).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572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FB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68680" y="5029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de manipulação implementadas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5486400" cy="2240280"/>
          </a:xfrm>
          <a:prstGeom prst="roundRect">
            <a:avLst>
              <a:gd name="adj" fmla="val 4082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520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FB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TAD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40690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TAD permite que linguagens de propósito geral sejam personalizadas para um domínio específico. É um conceito central no Paradigma Orientado a Objetos.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04 — TAD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Encapsulamento: Interface x Implementação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TADs estendem a noção de tipo (estrutura + operações) usando técnicas de ocultamento da informação sobre a estrutura interna e a implementação.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(o "o quê")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tipo oferece: a lista de operações disponíveis para quem for usá-lo — visível e pública.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Area();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Perimetro();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B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InitAltura(float a);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21945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(o "como")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 operação funciona por dentro — os detalhes ficam ocultos (encapsulados) de quem usa o tipo.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Perimetro()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2*(altura+largura);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04 — TAD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o TAD Retângulo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retângulo pode ser definido pela sua largura e altura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2103120"/>
            <a:ext cx="4206240" cy="2377440"/>
          </a:xfrm>
          <a:prstGeom prst="rect">
            <a:avLst/>
          </a:prstGeom>
          <a:solidFill>
            <a:srgbClr val="1C7293">
              <a:alpha val="80000"/>
            </a:srgbClr>
          </a:solidFill>
          <a:ln w="25400">
            <a:solidFill>
              <a:srgbClr val="5FB4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 rot="16200000">
            <a:off x="320040" y="2103120"/>
            <a:ext cx="548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965960"/>
            <a:ext cx="5852160" cy="3977640"/>
          </a:xfrm>
          <a:prstGeom prst="roundRect">
            <a:avLst>
              <a:gd name="adj" fmla="val 1839"/>
            </a:avLst>
          </a:prstGeom>
          <a:solidFill>
            <a:srgbClr val="101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26060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altura, largura;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TipoRetangulo;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393192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dessas informações é possível calcular área e perímetro — logo, além das consultas, o TAD precisa oferecer operações de cálculo.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04 — TAD Retângulo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—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TAD Retângulo — Interface (Operações)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101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inicia valores do retangulo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inicia_retangulo(float a, float l);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atribui um valor a altura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InitAltura(float a);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retorna o valor da altura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Altura(void);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atribui um valor a largura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InitLargura(float l);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retorna o valor da largura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Largura(void);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calcula o perimetro e a area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Perimetro(void);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Area(void);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expõe TODAS as operações necessárias para manipular o retângulo — inclusive consultas simples (Altura, Largura).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— Exercício prático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— IMPLEMENTAÇÃO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TAD Retângulo — Implementação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101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inicia_retangulo(float a, float l) {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altura = a;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largura = l;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Altura() {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altura;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Perimetro() {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2 * (altura + largura);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Area() {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altura * largura;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5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 o TAD chama Perimetro() sem precisar saber a fórmula por trás — esse é o valor do encapsulamento.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— Exercício prático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Projetando um Bom Tipo Abstrato de Dados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de um TAD é uma tarefa difícil: precisa favorecer o reuso por terceiros e agilizar o desenvolvimento de software.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07568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adequadas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um conjunto de operações que realmente atenda às necessidades de manipulação do tipo.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207568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consistente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651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operação deve ter comportamento previsível, permitindo combiná-las para tarefas mais complexas.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0416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Coesão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operações devem ser definidas de forma coesa, com propósito específico — favorecendo o reuso.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06908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40416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 de acesso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46177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teste: verificar se todas as propriedades do objeto podem ser acessadas através da interface.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04 — Boas práticas de TAD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Primitivo ao Abstrato: a Jornada Completa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05840" y="2194560"/>
            <a:ext cx="10149840" cy="0"/>
          </a:xfrm>
          <a:prstGeom prst="line">
            <a:avLst/>
          </a:prstGeom>
          <a:noFill/>
          <a:ln w="38100">
            <a:solidFill>
              <a:srgbClr val="DC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3060" y="185623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623060" y="1856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Primitivo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char, bool — valor direto na memória, operações nativas da linguagem.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1708" y="18562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21708" y="1856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84448" y="26060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27889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Composto Homogêneo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67328" y="33832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— múltiplos valores do mesmo tipo, acesso por índice.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20356" y="1856232"/>
            <a:ext cx="640080" cy="64008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6" name="Text 14"/>
          <p:cNvSpPr/>
          <p:nvPr/>
        </p:nvSpPr>
        <p:spPr>
          <a:xfrm>
            <a:off x="7420356" y="1856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83096" y="26060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27889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Composto Heterogêneo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65976" y="33832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— campos de tipos diferentes, acesso por nome, SEM operações prontas.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319004" y="1856232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10319004" y="1856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381744" y="26060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18904" y="27889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Abstrato de Dados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64624" y="33832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+ operações implementadas + interface pública — a base da Orientação a Objetos.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04 — Recapitulação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8046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Projete seu Próprio TAD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4480560"/>
          </a:xfrm>
          <a:prstGeom prst="roundRect">
            <a:avLst>
              <a:gd name="adj" fmla="val 204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10332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r>
              <a:rPr lang="en-US" sz="1600" dirty="0">
                <a:solidFill>
                  <a:srgbClr val="FFFFFF"/>
                </a:solidFill>
              </a:rPr>
              <a:t>Escolha uma entidade do seu cotidiano (ex.: ContaBancaria, Carrinho de Compras, Pilha de Cartas) e defina sua estrutura de campos.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800"/>
              </a:spcAft>
              <a:buSzPct val="100000"/>
              <a:buChar char="▸"/>
            </a:pPr>
            <a:r>
              <a:rPr lang="en-US" sz="1600" dirty="0">
                <a:solidFill>
                  <a:srgbClr val="FFFFFF"/>
                </a:solidFill>
              </a:rPr>
              <a:t>Liste ao menos 4 operações que essa entidade precisaria oferecer em sua interface (ex.: depositar, sacar, </a:t>
            </a:r>
            <a:r>
              <a:rPr lang="en-US" sz="1600" dirty="0" err="1">
                <a:solidFill>
                  <a:srgbClr val="FFFFFF"/>
                </a:solidFill>
              </a:rPr>
              <a:t>consultarSaldo</a:t>
            </a:r>
            <a:r>
              <a:rPr lang="en-US" sz="1600" dirty="0">
                <a:solidFill>
                  <a:srgbClr val="FFFFFF"/>
                </a:solidFill>
              </a:rPr>
              <a:t>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Pausa para atividade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APROFUNDAR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dos Conceitos-Chave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</a:rPr>
              <a:t>Tipo primitivo = fornecido pela linguagem, valor direto, operações nativas.</a:t>
            </a:r>
            <a:endParaRPr lang="en-US" sz="1500" dirty="0"/>
          </a:p>
          <a:p>
            <a:pPr marL="279400" indent="-2794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</a:rPr>
              <a:t>Motivação para tipos compostos: volume (homogeneidade) e coesão (heterogeneidade).</a:t>
            </a:r>
            <a:endParaRPr lang="en-US" sz="1500" dirty="0"/>
          </a:p>
          <a:p>
            <a:pPr marL="279400" indent="-2794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</a:rPr>
              <a:t>Array: mesmo tipo, acesso por índice, manipulável por repetição.</a:t>
            </a:r>
            <a:endParaRPr lang="en-US" sz="1500" dirty="0"/>
          </a:p>
          <a:p>
            <a:pPr marL="279400" indent="-2794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</a:rPr>
              <a:t>Struct: tipos diferentes, acesso por campo, soma dos tamanhos dos campos.</a:t>
            </a:r>
            <a:endParaRPr lang="en-US" sz="1500" dirty="0"/>
          </a:p>
          <a:p>
            <a:pPr marL="279400" indent="-2794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</a:rPr>
              <a:t>Struct sozinha não traz operações — é preciso implementá-las.</a:t>
            </a:r>
            <a:endParaRPr lang="en-US" sz="1500" dirty="0"/>
          </a:p>
          <a:p>
            <a:pPr marL="279400" indent="-2794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</a:rPr>
              <a:t>TAD = estrutura + operações, com interface pública e implementação oculta (encapsulamento).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Revisão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486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4630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4630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5FB49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dúvidas e discussão aberta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280160" cy="0"/>
          </a:xfrm>
          <a:prstGeom prst="line">
            <a:avLst/>
          </a:prstGeom>
          <a:noFill/>
          <a:ln w="38100">
            <a:solidFill>
              <a:srgbClr val="5FB4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Tipos de Dados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3515</Words>
  <Application>Microsoft Office PowerPoint</Application>
  <PresentationFormat>Widescreen</PresentationFormat>
  <Paragraphs>606</Paragraphs>
  <Slides>43</Slides>
  <Notes>43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9" baseType="lpstr">
      <vt:lpstr>Arial</vt:lpstr>
      <vt:lpstr>Arial Unicode MS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Felipe</cp:lastModifiedBy>
  <cp:revision>4</cp:revision>
  <dcterms:created xsi:type="dcterms:W3CDTF">2026-08-12T19:05:33Z</dcterms:created>
  <dcterms:modified xsi:type="dcterms:W3CDTF">2026-08-12T20:33:34Z</dcterms:modified>
</cp:coreProperties>
</file>