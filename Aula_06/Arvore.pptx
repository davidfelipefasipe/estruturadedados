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6F51"/>
    <a:srgbClr val="1F3A5F"/>
    <a:srgbClr val="2A9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178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do livro: peça aos alunos que estruturem suas fotos digitais em pastas hierárquicas. Critérios: ano/mês, relação social, tipo de evento.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Ordem de um nó: alguns autores usam o número mínimo de filhos, outros o máximo. Cuidado ao consultar outras fontes.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Figura 11.11 do livro: (a) é quase completa; (b) não é, pois um nó com descendente direito no último nível tem filho esquerdo que não é folha nesse 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verdes indicam a ordem em que cada nó é visitado.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verdes indicam a ordem em que cada nó é visitado.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verdes indicam a ordem em que cada nó é visitado.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do livro (Figura 11.15): inserir a chave 22. 22 &lt; 50, 22 &lt; 40, 22 &gt; 15; como 15 não tem filho direito, 22 vira filho direito de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remoção exige reorganizar a árvore para manter a ordenação. Alguns autores usam, no caso 3, o menor elemento da subárvore direita. Funções do livro: remover_binaria e retornar_maior.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operações são proporcionais à altura da árvore. Para aprofundar: Wirth (1989), Algoritmos e estruturas de dados, e Cormen et al. (2012), Parte 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· Prof. David Alves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flipH="1">
            <a:off x="6492240" y="3291840"/>
            <a:ext cx="731520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3291840"/>
            <a:ext cx="731520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6126480" y="3840480"/>
            <a:ext cx="365760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3840480"/>
            <a:ext cx="365760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3840480"/>
            <a:ext cx="365760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3108960"/>
            <a:ext cx="365760" cy="36576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36576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42062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42062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36576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38160" y="42062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– Conceitos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existem as árvores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e terminologia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Nível, grau e altura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representação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– Árvores binárias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e classificação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estática e dinâmica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Percursos: pré, em e pós-ordem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Inserção, remoção e eficiência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existem as árvores?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uma pessoa numa multidão desorganizada é lento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pastas, achar uma foto antiga seria quase impossível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clássica: organização hierárquica, que reduz o tempo de busca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5646420" y="1691640"/>
            <a:ext cx="98298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1691640"/>
            <a:ext cx="98298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5154930" y="2697480"/>
            <a:ext cx="49149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46420" y="2697480"/>
            <a:ext cx="49149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7120890" y="2697480"/>
            <a:ext cx="49149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12380" y="2697480"/>
            <a:ext cx="49149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1417320"/>
            <a:ext cx="548640" cy="54864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72100" y="242316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80610" y="34290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863590" y="34290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38060" y="242316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46570" y="34290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Férias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829550" y="34290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Festas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pastas de fotografias como árvore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árvore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3657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dispostos hierarquicamente, guardados em nós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principal: a raiz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raiz saem as subárvores, que têm a mesma estrutura da árvore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Definição: A = {} (vazia) ou A = {R, A1, A2, ..., An}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Brasil (raiz) → estados → municípios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5646420" y="1691640"/>
            <a:ext cx="98298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691640"/>
            <a:ext cx="49149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691640"/>
            <a:ext cx="147447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5154930" y="2697480"/>
            <a:ext cx="49149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46420" y="2697480"/>
            <a:ext cx="49149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20890" y="2697480"/>
            <a:ext cx="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3870" y="2697480"/>
            <a:ext cx="0" cy="10058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399032"/>
            <a:ext cx="585216" cy="58521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53812" y="240487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62322" y="341071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Sorriso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45302" y="341071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Cuiabá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28282" y="240487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28282" y="341071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11262" y="240487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11262" y="341071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Salvador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com país, estados e </a:t>
            </a:r>
            <a:r>
              <a:rPr lang="en-US" sz="1000" i="1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Conceitos: tipos de nó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3657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raiz: sem ancestrais; todos os outros são seus descendentes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pai: tem um ou mais filhos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filho: descende de outro nó e tem apenas um pai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folha: não tem descendentes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4991100" y="1565910"/>
            <a:ext cx="163830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5974080" y="1565910"/>
            <a:ext cx="65532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565910"/>
            <a:ext cx="65532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565910"/>
            <a:ext cx="163830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5646420" y="232029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74080" y="232029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740" y="3074670"/>
            <a:ext cx="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84720" y="2320290"/>
            <a:ext cx="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6957060" y="307467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4720" y="307467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36474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89932" y="2119122"/>
            <a:ext cx="402336" cy="40233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72912" y="2119122"/>
            <a:ext cx="402336" cy="40233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5252" y="2873502"/>
            <a:ext cx="402336" cy="40233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00572" y="287350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00572" y="3627882"/>
            <a:ext cx="402336" cy="40233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3552" y="211912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3552" y="287350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55892" y="3627882"/>
            <a:ext cx="402336" cy="40233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11212" y="3627882"/>
            <a:ext cx="402336" cy="40233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66532" y="2119122"/>
            <a:ext cx="402336" cy="40233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 err="1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</a:t>
            </a:r>
            <a:r>
              <a:rPr lang="en-US" sz="1000" b="1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00" b="1" i="1" dirty="0" err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</a:t>
            </a:r>
            <a:r>
              <a:rPr lang="en-US" sz="1000" b="1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00" b="1" i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</a:t>
            </a:r>
            <a:endParaRPr lang="en-US" sz="1000" b="1" dirty="0">
              <a:solidFill>
                <a:srgbClr val="E76F5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e grau de um nó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3657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Nível: raiz = 0; demais = nível do pai + 1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B0 → 0, B2 → 1, B5 → 2, B16 → 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do nó: número de filhos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grau de B0 = 4; grau de B6 = 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da árvore: maior grau entre os nós (aqui, 4)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4991100" y="1565910"/>
            <a:ext cx="163830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5974080" y="1565910"/>
            <a:ext cx="65532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565910"/>
            <a:ext cx="65532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565910"/>
            <a:ext cx="163830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5646420" y="232029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74080" y="232029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740" y="3074670"/>
            <a:ext cx="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84720" y="2320290"/>
            <a:ext cx="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6957060" y="307467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4720" y="307467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36474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89932" y="211912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72912" y="2119122"/>
            <a:ext cx="402336" cy="40233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5252" y="2873502"/>
            <a:ext cx="402336" cy="40233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00572" y="287350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00572" y="3627882"/>
            <a:ext cx="402336" cy="40233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3552" y="211912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3552" y="2873502"/>
            <a:ext cx="402336" cy="40233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55892" y="362788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11212" y="362788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66532" y="211912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Verde: nós usados no exemplo de nível · laranja: B6 (grau 2)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de um nó e da árvore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3657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de um nó: maior distância até uma folha descendente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B0 → 3, B10 → 1, B5 → 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da árvore = altura do nó raiz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árvore: altura 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4991100" y="1565910"/>
            <a:ext cx="163830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5974080" y="1565910"/>
            <a:ext cx="65532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565910"/>
            <a:ext cx="65532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565910"/>
            <a:ext cx="163830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5646420" y="232029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74080" y="232029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740" y="3074670"/>
            <a:ext cx="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84720" y="2320290"/>
            <a:ext cx="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6957060" y="307467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4720" y="3074670"/>
            <a:ext cx="327660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36474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89932" y="211912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72912" y="211912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5252" y="2873502"/>
            <a:ext cx="402336" cy="40233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00572" y="2873502"/>
            <a:ext cx="402336" cy="40233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00572" y="362788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3552" y="211912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3552" y="287350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55892" y="362788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11212" y="362788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66532" y="211912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Azul: B0 (altura 3) · verde: B10 (altura 1) · laranja: B5 (altura 0)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formas de representação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43000"/>
            <a:ext cx="3657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(a mais usada)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Venn (conjuntos aninhados): criado por John Venn em 1880; cada subárvore é um círculo dentro do círculo do pai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Parênteses aninhados: mesma ideia, </a:t>
            </a:r>
            <a:r>
              <a:rPr lang="en-US" sz="13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</a:t>
            </a: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uma linha, mas a </a:t>
            </a:r>
            <a:r>
              <a:rPr lang="en-US" sz="13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</a:t>
            </a: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</a:t>
            </a: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1143000"/>
            <a:ext cx="3840480" cy="306324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1F3A5F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0" y="201168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72200" y="1783080"/>
            <a:ext cx="2194560" cy="2286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55080" y="2880360"/>
            <a:ext cx="868680" cy="86868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60920" y="2880360"/>
            <a:ext cx="868680" cy="86868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B0 ( B1 ) ( B2 ( B3 ) ( B4 ) ) 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binárias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3657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nó tem no máximo 2 filhos: subárvore esquerda e direita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Herdam todos os conceitos de árvore (nível, grau, altura)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nível N tem K nós, o nível N+1 tem no máximo 2K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nós no nível N: 2ᴺ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nós até o nível T: 2ᵀ⁺¹ − 1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5646420" y="1600200"/>
            <a:ext cx="982980" cy="8229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600200"/>
            <a:ext cx="982980" cy="8229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5154930" y="2423160"/>
            <a:ext cx="491490" cy="8229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46420" y="2423160"/>
            <a:ext cx="491490" cy="8229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7120890" y="2423160"/>
            <a:ext cx="491490" cy="8229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12380" y="2423160"/>
            <a:ext cx="491490" cy="8229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380744"/>
            <a:ext cx="438912" cy="438912"/>
          </a:xfrm>
          <a:prstGeom prst="ellipse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26964" y="220370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5474" y="302666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18454" y="302666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92924" y="220370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1434" y="302666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84414" y="3026664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749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0: 1 nó · nível 1: 2 nós · nível 2: 4 nós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das árvores binárias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24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Estritamente binária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46304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nó não folha tem os 2 filhos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 flipH="1">
            <a:off x="1371600" y="2651760"/>
            <a:ext cx="41148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83080" y="2651760"/>
            <a:ext cx="82296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960120" y="3383280"/>
            <a:ext cx="41148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71600" y="3383280"/>
            <a:ext cx="41148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2468880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88720" y="32004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39319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600200" y="39319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423160" y="32004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105156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83280" y="1124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383280" y="146304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Estritamente binária, com todas as folhas no mesmo nível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 flipH="1">
            <a:off x="3954780" y="2651760"/>
            <a:ext cx="61722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2651760"/>
            <a:ext cx="61722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H="1">
            <a:off x="3646170" y="3383280"/>
            <a:ext cx="30861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954780" y="3383280"/>
            <a:ext cx="30861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>
            <a:off x="4880610" y="3383280"/>
            <a:ext cx="30861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89220" y="3383280"/>
            <a:ext cx="30861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9120" y="2468880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771900" y="32004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463290" y="39319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080510" y="39319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006340" y="32004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697730" y="39319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314950" y="39319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035040" y="105156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172200" y="1124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</a:t>
            </a: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completa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172200" y="146304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 nos níveis N ou N−1, preenchidas da esquerda para a direita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 flipH="1">
            <a:off x="6949440" y="2651760"/>
            <a:ext cx="41148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60920" y="2651760"/>
            <a:ext cx="82296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>
            <a:off x="6537960" y="3383280"/>
            <a:ext cx="41148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949440" y="3383280"/>
            <a:ext cx="41148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183880" y="3383280"/>
            <a:ext cx="0" cy="73152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78040" y="2468880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766560" y="32004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355080" y="39319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178040" y="39319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001000" y="32004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001000" y="39319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com alocação estática (vetor)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na posição 0; para o nó na posição i: filho esquerdo em 2·i + 1 e filho direito em 2·i + 2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filhos de B0 (posição 0) → posições 1 e 2; filhos de B1 → 3 e 4; filhos de B5 → 11 e 12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Vantagem: manipulação simples · Desvantagem: desperdício de espaço com nós vazios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48640" cy="502920"/>
          </a:xfrm>
          <a:prstGeom prst="rect">
            <a:avLst/>
          </a:prstGeom>
          <a:solidFill>
            <a:srgbClr val="2A9D8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548640" cy="502920"/>
          </a:xfrm>
          <a:prstGeom prst="rect">
            <a:avLst/>
          </a:prstGeom>
          <a:solidFill>
            <a:srgbClr val="2A9D8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3063240"/>
            <a:ext cx="548640" cy="502920"/>
          </a:xfrm>
          <a:prstGeom prst="rect">
            <a:avLst/>
          </a:prstGeom>
          <a:solidFill>
            <a:srgbClr val="2A9D8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3063240"/>
            <a:ext cx="548640" cy="502920"/>
          </a:xfrm>
          <a:prstGeom prst="rect">
            <a:avLst/>
          </a:prstGeom>
          <a:solidFill>
            <a:srgbClr val="2A9D8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063240"/>
            <a:ext cx="548640" cy="502920"/>
          </a:xfrm>
          <a:prstGeom prst="rect">
            <a:avLst/>
          </a:prstGeom>
          <a:solidFill>
            <a:srgbClr val="2A9D8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063240"/>
            <a:ext cx="548640" cy="502920"/>
          </a:xfrm>
          <a:prstGeom prst="rect">
            <a:avLst/>
          </a:prstGeom>
          <a:solidFill>
            <a:srgbClr val="2A9D8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3063240"/>
            <a:ext cx="548640" cy="502920"/>
          </a:xfrm>
          <a:prstGeom prst="rect">
            <a:avLst/>
          </a:prstGeom>
          <a:solidFill>
            <a:srgbClr val="2A9D8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3063240"/>
            <a:ext cx="548640" cy="502920"/>
          </a:xfrm>
          <a:prstGeom prst="rect">
            <a:avLst/>
          </a:prstGeom>
          <a:solidFill>
            <a:srgbClr val="8FA3B5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063240"/>
            <a:ext cx="548640" cy="502920"/>
          </a:xfrm>
          <a:prstGeom prst="rect">
            <a:avLst/>
          </a:prstGeom>
          <a:solidFill>
            <a:srgbClr val="8FA3B5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3063240"/>
            <a:ext cx="548640" cy="502920"/>
          </a:xfrm>
          <a:prstGeom prst="rect">
            <a:avLst/>
          </a:prstGeom>
          <a:solidFill>
            <a:srgbClr val="8FA3B5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3063240"/>
            <a:ext cx="548640" cy="502920"/>
          </a:xfrm>
          <a:prstGeom prst="rect">
            <a:avLst/>
          </a:prstGeom>
          <a:solidFill>
            <a:srgbClr val="8FA3B5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063240"/>
            <a:ext cx="548640" cy="502920"/>
          </a:xfrm>
          <a:prstGeom prst="rect">
            <a:avLst/>
          </a:prstGeom>
          <a:solidFill>
            <a:srgbClr val="8FA3B5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3063240"/>
            <a:ext cx="548640" cy="502920"/>
          </a:xfrm>
          <a:prstGeom prst="rect">
            <a:avLst/>
          </a:prstGeom>
          <a:solidFill>
            <a:srgbClr val="8FA3B5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3063240"/>
            <a:ext cx="548640" cy="502920"/>
          </a:xfrm>
          <a:prstGeom prst="rect">
            <a:avLst/>
          </a:prstGeom>
          <a:solidFill>
            <a:srgbClr val="8FA3B5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3063240"/>
            <a:ext cx="548640" cy="502920"/>
          </a:xfrm>
          <a:prstGeom prst="rect">
            <a:avLst/>
          </a:prstGeom>
          <a:solidFill>
            <a:srgbClr val="8FA3B5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B14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com a árvore completa de 15 nós da Figura 11.10 (índices abaixo de cada posição)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com alocação dinâmica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3657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nó é um registro com 3 campos: dado, esq e dir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folha: esq e dir vazios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desperdício de espaço, mas manipulação mais complexa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</a:t>
            </a: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raiz para as folhas (por isso não há campo pai)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1188720" cy="548640"/>
          </a:xfrm>
          <a:prstGeom prst="rect">
            <a:avLst/>
          </a:prstGeom>
          <a:solidFill>
            <a:srgbClr val="EEF3F8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188720"/>
            <a:ext cx="1188720" cy="548640"/>
          </a:xfrm>
          <a:prstGeom prst="rect">
            <a:avLst/>
          </a:prstGeom>
          <a:solidFill>
            <a:srgbClr val="2A9D8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0" y="1188720"/>
            <a:ext cx="1188720" cy="548640"/>
          </a:xfrm>
          <a:prstGeom prst="rect">
            <a:avLst/>
          </a:prstGeom>
          <a:solidFill>
            <a:srgbClr val="EEF3F8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011680"/>
            <a:ext cx="4114800" cy="2606040"/>
          </a:xfrm>
          <a:prstGeom prst="roundRect">
            <a:avLst>
              <a:gd name="adj" fmla="val 2105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81728" y="2084832"/>
            <a:ext cx="389534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dado):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self.dado = dado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self.esq = None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self.dir = None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árvore de 3 nós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raiz = No(50)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raiz.esq = No(40)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raiz.dir = No(62)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Percursos em árvores binárias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 (travessia ou varredura): apresentar todos os elementos, com ou sem </a:t>
            </a:r>
            <a:r>
              <a:rPr lang="en-US" sz="13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</a:t>
            </a: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 básicas, diferenciadas pela ordem de visita dos nós: pré-ordem, em-ordem e </a:t>
            </a:r>
            <a:r>
              <a:rPr lang="en-US" sz="13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pós-ordem</a:t>
            </a: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</a:t>
            </a:r>
            <a:r>
              <a:rPr lang="en-US" sz="13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</a:t>
            </a: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recursivas</a:t>
            </a: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587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Pré-ordem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92608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o nó, depois esquerda e direita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25146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587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Em-ordem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2608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esquerda, visita o nó, depois direita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5146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2587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Pós-ordem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92608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esquerda, direita, depois visita o nó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 em pré-ordem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→ esquerda → direita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B0-B1-B3-B7-B8-B4-B9-B10-B2-B5-B11-B12-B6-B13-B14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931920" cy="2240280"/>
          </a:xfrm>
          <a:prstGeom prst="roundRect">
            <a:avLst>
              <a:gd name="adj" fmla="val 2449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2450592"/>
            <a:ext cx="3712464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pre_ordem(no):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 is not None: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print(no.dado)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pre_ordem(no.esq)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pre_ordem(no.dir)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5623560" y="1531620"/>
            <a:ext cx="100584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9400" y="1531620"/>
            <a:ext cx="100584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512064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486918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587502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713232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524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>
            <a:off x="688086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>
            <a:off x="788670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3816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55664" y="1357884"/>
            <a:ext cx="347472" cy="347472"/>
          </a:xfrm>
          <a:prstGeom prst="ellipse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24955" y="129707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49824" y="213512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19115" y="207431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94690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1619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9544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96473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9836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46765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95274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22203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70128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97057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20420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47349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461504" y="213512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730795" y="207431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95858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22787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70712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97641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21004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47933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96442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23371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71296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B13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98225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821588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B14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848517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45720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verdes: ordem de visita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 em em-ordem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 → raiz → direita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B7-B3-B8-B1-B9-B4-B10-B0-B11-B5-B12-B2-B13-B6-B14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931920" cy="2240280"/>
          </a:xfrm>
          <a:prstGeom prst="roundRect">
            <a:avLst>
              <a:gd name="adj" fmla="val 2449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2450592"/>
            <a:ext cx="3712464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em_ordem(no):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 is not None: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em_ordem(no.esq)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print(no.dado)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em_ordem(no.dir)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5623560" y="1531620"/>
            <a:ext cx="100584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9400" y="1531620"/>
            <a:ext cx="100584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512064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486918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587502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713232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524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>
            <a:off x="688086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>
            <a:off x="788670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3816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55664" y="1357884"/>
            <a:ext cx="347472" cy="347472"/>
          </a:xfrm>
          <a:prstGeom prst="ellipse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24955" y="129707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49824" y="213512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19115" y="207431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94690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1619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9544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96473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9836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46765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95274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22203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70128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97057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20420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47349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461504" y="213512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730795" y="207431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95858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22787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70712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97641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21004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47933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96442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23371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71296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B13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98225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821588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B14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848517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45720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verdes: ordem de visita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 em pós-ordem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 → direita → raiz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B7-B8-B3-B9-B10-B4-B1-B11-B12-B5-B13-B14-B6-B2-B0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931920" cy="2240280"/>
          </a:xfrm>
          <a:prstGeom prst="roundRect">
            <a:avLst>
              <a:gd name="adj" fmla="val 2449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2450592"/>
            <a:ext cx="3712464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pos_ordem(no):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 is not None: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pos_ordem(no.esq)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pos_ordem(no.dir)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print(no.dado)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5623560" y="1531620"/>
            <a:ext cx="100584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9400" y="1531620"/>
            <a:ext cx="100584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512064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486918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587502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713232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5240" y="2308860"/>
            <a:ext cx="50292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>
            <a:off x="688086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>
            <a:off x="788670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38160" y="3086100"/>
            <a:ext cx="251460" cy="7772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55664" y="1357884"/>
            <a:ext cx="347472" cy="347472"/>
          </a:xfrm>
          <a:prstGeom prst="ellipse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24955" y="129707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49824" y="213512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19115" y="207431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94690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1619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9544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96473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9836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46765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95274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22203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70128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97057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20420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47349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461504" y="213512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730795" y="207431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95858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22787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70712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97641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21004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47933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964424" y="29123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233715" y="285155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71296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B13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98225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8215884" y="36896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B14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8485175" y="3628796"/>
            <a:ext cx="182880" cy="182880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45720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verdes: ordem de visita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em árvore binária de busca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1874520"/>
          </a:xfrm>
          <a:prstGeom prst="roundRect">
            <a:avLst>
              <a:gd name="adj" fmla="val 390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4300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tem uma chave que define a ordenação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menor: subárvore esquerda; maior: direita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inserir_binaria é recursiva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3931920" cy="1645920"/>
          </a:xfrm>
          <a:prstGeom prst="roundRect">
            <a:avLst>
              <a:gd name="adj" fmla="val 3333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3090672"/>
            <a:ext cx="371246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inserir_binaria(no, valor):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 is None: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No(valor)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valor &lt; no.dado: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no.esq = inserir_binaria(no.esq, valor)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valor &gt; no.dado: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no.dir = inserir_binaria(no.dir, valor)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5843016" y="1565910"/>
            <a:ext cx="786384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1565910"/>
            <a:ext cx="1179576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5449824" y="2320290"/>
            <a:ext cx="393192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43016" y="2320290"/>
            <a:ext cx="786384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49824" y="3074670"/>
            <a:ext cx="393192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08976" y="2320290"/>
            <a:ext cx="393192" cy="75438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36474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41848" y="2119122"/>
            <a:ext cx="402336" cy="40233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248656" y="2873502"/>
            <a:ext cx="402336" cy="40233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41848" y="3627882"/>
            <a:ext cx="402336" cy="40233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28232" y="287350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607808" y="211912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001000" y="287350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de 22: 50 → 40 → 15 (laranja: nó inserido)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1827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em árvore binária de busca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24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Sem filho esquerdo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46304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filho direito assume o lugar (remover 60)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 flipH="1">
            <a:off x="960120" y="2240280"/>
            <a:ext cx="82296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83080" y="2240280"/>
            <a:ext cx="41148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94560" y="2606040"/>
            <a:ext cx="41148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27632" y="20848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04672" y="24505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039112" y="2450592"/>
            <a:ext cx="310896" cy="31089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450592" y="281635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 flipH="1">
            <a:off x="1165860" y="3703320"/>
            <a:ext cx="617220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83080" y="3703320"/>
            <a:ext cx="617220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4787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10412" y="409651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244852" y="409651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46120" y="105156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383280" y="1124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Sem filho direito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383280" y="146304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filho esquerdo assume o lugar (remover 40)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38328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 flipH="1">
            <a:off x="3954780" y="2240280"/>
            <a:ext cx="61722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0" y="2240280"/>
            <a:ext cx="61722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954780" y="2606040"/>
            <a:ext cx="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16552" y="20848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799332" y="2450592"/>
            <a:ext cx="310896" cy="31089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799332" y="281635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033772" y="24505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3383280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 flipH="1">
            <a:off x="3954780" y="3703320"/>
            <a:ext cx="617220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0" y="3703320"/>
            <a:ext cx="617220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16552" y="354787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799332" y="409651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033772" y="409651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035040" y="105156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72200" y="1124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Dois filhos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6172200" y="146304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(remover 38) </a:t>
            </a:r>
            <a:r>
              <a:rPr lang="en-US" sz="12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2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2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subárvore</a:t>
            </a: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</a:t>
            </a: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2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subárvore</a:t>
            </a: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direita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6181005" y="20391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 flipH="1">
            <a:off x="6949440" y="2240280"/>
            <a:ext cx="41148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360920" y="2240280"/>
            <a:ext cx="82296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H="1">
            <a:off x="6537960" y="2606040"/>
            <a:ext cx="41148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949440" y="2606040"/>
            <a:ext cx="41148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05472" y="20848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793992" y="2450592"/>
            <a:ext cx="310896" cy="310896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382512" y="281635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205472" y="281635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028432" y="24505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6172200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 flipH="1">
            <a:off x="6949440" y="3611880"/>
            <a:ext cx="41148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360920" y="3611880"/>
            <a:ext cx="82296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949440" y="3977640"/>
            <a:ext cx="411480" cy="36576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205472" y="34564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793992" y="38221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7205472" y="418795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8028432" y="38221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das operações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291840" cy="3611880"/>
          </a:xfrm>
          <a:prstGeom prst="roundRect">
            <a:avLst>
              <a:gd name="adj" fmla="val 222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43000"/>
            <a:ext cx="3017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proporcional à altura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caso: altura N−1 → O(N)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ideal (árvore completa): O(log₂ 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altura depende da quantidade e da ordem de inserção das chaves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931920" y="1051560"/>
            <a:ext cx="2377440" cy="3611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20640" y="1508760"/>
            <a:ext cx="219456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40096" y="2057400"/>
            <a:ext cx="219456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59552" y="2606040"/>
            <a:ext cx="219456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79008" y="3154680"/>
            <a:ext cx="219456" cy="54864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46904" y="1335024"/>
            <a:ext cx="347472" cy="347472"/>
          </a:xfrm>
          <a:prstGeom prst="ellipse">
            <a:avLst/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66360" y="188366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85816" y="243230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05272" y="298094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24728" y="352958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ordenada: O(N)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0" y="1051560"/>
            <a:ext cx="2286000" cy="3611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6995160" y="1691640"/>
            <a:ext cx="548640" cy="91440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43800" y="1691640"/>
            <a:ext cx="548640" cy="91440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>
            <a:off x="6720840" y="2606040"/>
            <a:ext cx="274320" cy="91440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95160" y="2606040"/>
            <a:ext cx="274320" cy="91440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>
            <a:off x="7818120" y="2606040"/>
            <a:ext cx="274320" cy="91440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92440" y="2606040"/>
            <a:ext cx="274320" cy="914400"/>
          </a:xfrm>
          <a:prstGeom prst="line">
            <a:avLst/>
          </a:prstGeom>
          <a:noFill/>
          <a:ln w="15875">
            <a:solidFill>
              <a:srgbClr val="8FA3B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88352" y="1536192"/>
            <a:ext cx="310896" cy="31089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839712" y="24505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565392" y="33649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114032" y="33649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936992" y="24505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62672" y="33649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211312" y="33649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completa: O(log₂ N)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fixar e exercícios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fixar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numa situação do cotidiano que use organização hierárquica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árvore com 50, 40, 15, 62, 93, 47, 35, 68, 10, 37 e 22 e mostre os três percursos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Tente remover 100; depois remova 93 e 40 e repita os percursos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um simulador de árvores binárias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do capítulo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 por nível: B0-B1-B2-...-B14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uma árvore dada: construção, nível 3, altura do nó 120, inserções e remoções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que devolve o nível de um nó pelo valor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que soma os valores dos nós folha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vimos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Árvore: estrutura hierárquica de nós, com raiz e subárvores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Nível, grau e altura descrevem a estrutura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binária: no máximo 2 filhos por nó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Percursos: pré, em e pós-ordem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inserção e remoção têm custo proporcional à altura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E7F96BB-88C3-43FF-9201-8B156D24DB8B}"/>
              </a:ext>
            </a:extLst>
          </p:cNvPr>
          <p:cNvSpPr/>
          <p:nvPr/>
        </p:nvSpPr>
        <p:spPr>
          <a:xfrm>
            <a:off x="453813" y="467198"/>
            <a:ext cx="7640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</a:p>
          <a:p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BIANCHI, F.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Dados 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(2014), p. 256–287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788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1915</Words>
  <Application>Microsoft Office PowerPoint</Application>
  <PresentationFormat>Apresentação na tela (16:9)</PresentationFormat>
  <Paragraphs>455</Paragraphs>
  <Slides>22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Felipe</cp:lastModifiedBy>
  <cp:revision>9</cp:revision>
  <dcterms:created xsi:type="dcterms:W3CDTF">2026-09-30T03:16:29Z</dcterms:created>
  <dcterms:modified xsi:type="dcterms:W3CDTF">2026-10-14T21:05:40Z</dcterms:modified>
</cp:coreProperties>
</file>