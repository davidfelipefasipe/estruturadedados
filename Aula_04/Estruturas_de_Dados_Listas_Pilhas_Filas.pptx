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9" r:id="rId21"/>
    <p:sldId id="280" r:id="rId22"/>
    <p:sldId id="281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591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23282D"/>
          </a:solidFill>
          <a:ln w="19050">
            <a:solidFill>
              <a:srgbClr val="2F3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1234440"/>
            <a:ext cx="365760" cy="0"/>
          </a:xfrm>
          <a:prstGeom prst="line">
            <a:avLst/>
          </a:prstGeom>
          <a:noFill/>
          <a:ln w="19050">
            <a:solidFill>
              <a:srgbClr val="39D67E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966960" y="9144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23282D"/>
          </a:solidFill>
          <a:ln w="19050">
            <a:solidFill>
              <a:srgbClr val="2F35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1234440"/>
            <a:ext cx="274320" cy="0"/>
          </a:xfrm>
          <a:prstGeom prst="line">
            <a:avLst/>
          </a:prstGeom>
          <a:noFill/>
          <a:ln w="19050">
            <a:solidFill>
              <a:srgbClr val="39D67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064240" y="9144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23282D"/>
          </a:solidFill>
          <a:ln w="19050">
            <a:solidFill>
              <a:srgbClr val="39D6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6424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Listas Encadeadas,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Pilhas e Filas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Implementações em C  —  Aula de 3 horas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50292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5212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No 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dado;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 *prox;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No;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Objetivos da aula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9D6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em 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simplesmente, duplamente e circularmente encadeadas.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1031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9D6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Pilha e Fila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154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completas com alocação dinâmica de memória.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2976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9D6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60120" y="4937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variações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5349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prioridade e estruturas híbridas com vetor circular.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40690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42976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9D6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675120" y="4937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estrutura certa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5349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trade-offs e aplicar ao problema adequado.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que listas encadeadas?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685800" cy="685800"/>
          </a:xfrm>
          <a:prstGeom prst="rect">
            <a:avLst/>
          </a:prstGeom>
          <a:solidFill>
            <a:srgbClr val="2C333A"/>
          </a:solidFill>
          <a:ln w="12700">
            <a:solidFill>
              <a:srgbClr val="4048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743200"/>
            <a:ext cx="685800" cy="685800"/>
          </a:xfrm>
          <a:prstGeom prst="rect">
            <a:avLst/>
          </a:prstGeom>
          <a:solidFill>
            <a:srgbClr val="2C333A"/>
          </a:solidFill>
          <a:ln w="12700">
            <a:solidFill>
              <a:srgbClr val="4048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743200"/>
            <a:ext cx="685800" cy="685800"/>
          </a:xfrm>
          <a:prstGeom prst="rect">
            <a:avLst/>
          </a:prstGeom>
          <a:solidFill>
            <a:srgbClr val="2C333A"/>
          </a:solidFill>
          <a:ln w="12700">
            <a:solidFill>
              <a:srgbClr val="4048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743200"/>
            <a:ext cx="685800" cy="685800"/>
          </a:xfrm>
          <a:prstGeom prst="rect">
            <a:avLst/>
          </a:prstGeom>
          <a:solidFill>
            <a:srgbClr val="2C333A"/>
          </a:solidFill>
          <a:ln w="12700">
            <a:solidFill>
              <a:srgbClr val="4048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2743200"/>
            <a:ext cx="685800" cy="685800"/>
          </a:xfrm>
          <a:prstGeom prst="rect">
            <a:avLst/>
          </a:prstGeom>
          <a:solidFill>
            <a:srgbClr val="2C333A"/>
          </a:solidFill>
          <a:ln w="12700">
            <a:solidFill>
              <a:srgbClr val="4048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11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fixo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Inserção/remoção no meio: O(n)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23282D"/>
          </a:solidFill>
          <a:ln w="19050">
            <a:solidFill>
              <a:srgbClr val="39D6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ENCADEADA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27889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2C333A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3108960"/>
            <a:ext cx="228600" cy="0"/>
          </a:xfrm>
          <a:prstGeom prst="line">
            <a:avLst/>
          </a:prstGeom>
          <a:noFill/>
          <a:ln w="19050">
            <a:solidFill>
              <a:srgbClr val="39D67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35240" y="27889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2C333A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3108960"/>
            <a:ext cx="228600" cy="0"/>
          </a:xfrm>
          <a:prstGeom prst="line">
            <a:avLst/>
          </a:prstGeom>
          <a:noFill/>
          <a:ln w="19050">
            <a:solidFill>
              <a:srgbClr val="39D67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86800" y="27889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2C333A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3108960"/>
            <a:ext cx="457200" cy="0"/>
          </a:xfrm>
          <a:prstGeom prst="line">
            <a:avLst/>
          </a:prstGeom>
          <a:noFill/>
          <a:ln w="19050">
            <a:solidFill>
              <a:srgbClr val="39D67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60120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3611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dinâmica </a:t>
            </a: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(malloc/free)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aleatório O(n)  ×  inserção/remoção O(1) com ponteiro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LISTAS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Lista simplesmente encadeada — Conceito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No {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dado;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 *prox;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No;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*inicio = NULL;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965960"/>
            <a:ext cx="5029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QUADRO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2834640"/>
            <a:ext cx="822960" cy="822960"/>
          </a:xfrm>
          <a:prstGeom prst="rect">
            <a:avLst/>
          </a:prstGeom>
          <a:solidFill>
            <a:srgbClr val="F4F5F6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8346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3246120"/>
            <a:ext cx="320040" cy="0"/>
          </a:xfrm>
          <a:prstGeom prst="line">
            <a:avLst/>
          </a:prstGeom>
          <a:noFill/>
          <a:ln w="15240">
            <a:solidFill>
              <a:srgbClr val="1B1F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3246120"/>
            <a:ext cx="274320" cy="0"/>
          </a:xfrm>
          <a:prstGeom prst="line">
            <a:avLst/>
          </a:prstGeom>
          <a:noFill/>
          <a:ln w="19050">
            <a:solidFill>
              <a:srgbClr val="1B1F2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55280" y="2834640"/>
            <a:ext cx="822960" cy="822960"/>
          </a:xfrm>
          <a:prstGeom prst="rect">
            <a:avLst/>
          </a:prstGeom>
          <a:solidFill>
            <a:srgbClr val="F4F5F6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8346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58200" y="3246120"/>
            <a:ext cx="320040" cy="0"/>
          </a:xfrm>
          <a:prstGeom prst="line">
            <a:avLst/>
          </a:prstGeom>
          <a:noFill/>
          <a:ln w="15240">
            <a:solidFill>
              <a:srgbClr val="1B1F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3246120"/>
            <a:ext cx="274320" cy="0"/>
          </a:xfrm>
          <a:prstGeom prst="line">
            <a:avLst/>
          </a:prstGeom>
          <a:noFill/>
          <a:ln w="19050">
            <a:solidFill>
              <a:srgbClr val="1B1F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2834640"/>
            <a:ext cx="822960" cy="822960"/>
          </a:xfrm>
          <a:prstGeom prst="rect">
            <a:avLst/>
          </a:prstGeom>
          <a:solidFill>
            <a:srgbClr val="F4F5F6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8346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555480" y="3246120"/>
            <a:ext cx="320040" cy="0"/>
          </a:xfrm>
          <a:prstGeom prst="line">
            <a:avLst/>
          </a:prstGeom>
          <a:noFill/>
          <a:ln w="15240">
            <a:solidFill>
              <a:srgbClr val="1B1F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3246120"/>
            <a:ext cx="274320" cy="0"/>
          </a:xfrm>
          <a:prstGeom prst="line">
            <a:avLst/>
          </a:prstGeom>
          <a:noFill/>
          <a:ln w="19050">
            <a:solidFill>
              <a:srgbClr val="1B1F23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19556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977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com setas — o último ponteiro aponta para NULL.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LISTAS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Operações básicas (simplesmente encadeada)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no início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863840" y="230886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39D67E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3088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91640" y="310896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no final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63840" y="33147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3A414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33147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691640" y="411480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início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863840" y="432054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39D67E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43205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303520"/>
            <a:ext cx="502920" cy="50292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691640" y="512064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/ Remover por valor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863840" y="532638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3A414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53263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09760" y="2103120"/>
            <a:ext cx="2057400" cy="3429000"/>
          </a:xfrm>
          <a:prstGeom prst="roundRect">
            <a:avLst>
              <a:gd name="adj" fmla="val 3556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38360" y="2286000"/>
            <a:ext cx="1600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 de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percorrer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lista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(a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!= NULL)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= a-&gt;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prox;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LISTAS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Implementação completa — lista simples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532120" cy="4251960"/>
          </a:xfrm>
          <a:prstGeom prst="roundRect">
            <a:avLst>
              <a:gd name="adj" fmla="val 1720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50749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No* criarNo(int valor) {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*novo = (No*) malloc(sizeof(No));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(novo == NULL) {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printf("Erro de alocacao!\n");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exit(1);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novo-&gt;dado = valor;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novo-&gt;prox = NULL;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novo;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inserirInicio(No **inicio, int valor) {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*novo = criarNo(valor);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novo-&gt;prox = *inicio;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*inicio = novo;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55080" y="1828800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2011680"/>
            <a:ext cx="4709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inserirFim(No **inicio, int valor) {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*novo = criarNo(valor);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(*inicio == NULL) {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*inicio = novo;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*atual = *inicio;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(atual-&gt;prox != NULL)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atual = atual-&gt;prox;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atual-&gt;prox = novo;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removerInicio(No **inicio) {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(*inicio == NULL) return;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*temp = *inicio;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*inicio = (*inicio)-&gt;prox;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free(temp);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LISTAS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Exemplo </a:t>
            </a:r>
            <a:r>
              <a:rPr lang="en-US" sz="3200" b="1" dirty="0" err="1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prático</a:t>
            </a:r>
            <a:r>
              <a:rPr lang="en-US" sz="32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+ execução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760720" cy="3566160"/>
          </a:xfrm>
          <a:prstGeom prst="roundRect">
            <a:avLst>
              <a:gd name="adj" fmla="val 2051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*lista = NULL;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inserirInicio(&amp;lista, 30);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inserirInicio(&amp;lista, 20);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inserirInicio(&amp;lista, 10);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inserirFim(&amp;lista, 40);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imprimir(lista);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10 -&gt; 20 -&gt; 30 -&gt; 40 -&gt; NULL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removerInicio(&amp;lista);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imprimir(lista);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20 -&gt; 30 -&gt; 40 -&gt; NULL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75120" y="196596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23282D"/>
          </a:solidFill>
          <a:ln w="15240">
            <a:solidFill>
              <a:srgbClr val="39D6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2514600"/>
            <a:ext cx="411480" cy="41148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43800" y="2468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os ponteiros antes e depois de cada operação — isso fixa o conceito de referência.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3429000"/>
            <a:ext cx="4206240" cy="0"/>
          </a:xfrm>
          <a:prstGeom prst="line">
            <a:avLst/>
          </a:prstGeom>
          <a:noFill/>
          <a:ln w="12700">
            <a:solidFill>
              <a:srgbClr val="2F35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sugerida: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49440" y="3886200"/>
            <a:ext cx="4206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Estado inicial (lista vazia)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Após cada inserirInicio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Após inserirFim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Após removerInicio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LISTAS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Lista duplamente encadeada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1618488"/>
          </a:xfrm>
          <a:prstGeom prst="roundRect">
            <a:avLst>
              <a:gd name="adj" fmla="val 3077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945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NoDuplo {</a:t>
            </a:r>
            <a:endParaRPr lang="en-US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dado;</a:t>
            </a:r>
            <a:endParaRPr lang="en-US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NoDuplo *ant;</a:t>
            </a:r>
            <a:endParaRPr lang="en-US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NoDuplo *prox;</a:t>
            </a:r>
            <a:endParaRPr lang="en-US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No;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450" dirty="0">
              <a:solidFill>
                <a:srgbClr val="D7DBDD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96000" y="2660904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61760" y="3575304"/>
            <a:ext cx="1005840" cy="822960"/>
          </a:xfrm>
          <a:prstGeom prst="rect">
            <a:avLst/>
          </a:prstGeom>
          <a:solidFill>
            <a:srgbClr val="F4F5F6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1760" y="357530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67600" y="3895344"/>
            <a:ext cx="320040" cy="0"/>
          </a:xfrm>
          <a:prstGeom prst="line">
            <a:avLst/>
          </a:prstGeom>
          <a:noFill/>
          <a:ln w="16510">
            <a:solidFill>
              <a:srgbClr val="2A9D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67600" y="4078224"/>
            <a:ext cx="320040" cy="0"/>
          </a:xfrm>
          <a:prstGeom prst="line">
            <a:avLst/>
          </a:prstGeom>
          <a:noFill/>
          <a:ln w="16510">
            <a:solidFill>
              <a:srgbClr val="2A9D5C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7833360" y="3575304"/>
            <a:ext cx="1005840" cy="822960"/>
          </a:xfrm>
          <a:prstGeom prst="rect">
            <a:avLst/>
          </a:prstGeom>
          <a:solidFill>
            <a:srgbClr val="F4F5F6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3360" y="357530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200" y="3895344"/>
            <a:ext cx="320040" cy="0"/>
          </a:xfrm>
          <a:prstGeom prst="line">
            <a:avLst/>
          </a:prstGeom>
          <a:noFill/>
          <a:ln w="16510">
            <a:solidFill>
              <a:srgbClr val="2A9D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39200" y="4078224"/>
            <a:ext cx="320040" cy="0"/>
          </a:xfrm>
          <a:prstGeom prst="line">
            <a:avLst/>
          </a:prstGeom>
          <a:noFill/>
          <a:ln w="16510">
            <a:solidFill>
              <a:srgbClr val="2A9D5C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9204960" y="3575304"/>
            <a:ext cx="1005840" cy="822960"/>
          </a:xfrm>
          <a:prstGeom prst="rect">
            <a:avLst/>
          </a:prstGeom>
          <a:solidFill>
            <a:srgbClr val="F4F5F6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04960" y="357530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61760" y="46268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ponteiros por nó: navegação em ambas as direções.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04E8D35-2D2F-4B41-B1AB-D9FF5588AE1C}"/>
              </a:ext>
            </a:extLst>
          </p:cNvPr>
          <p:cNvSpPr/>
          <p:nvPr/>
        </p:nvSpPr>
        <p:spPr>
          <a:xfrm>
            <a:off x="640080" y="3874725"/>
            <a:ext cx="5120640" cy="1618488"/>
          </a:xfrm>
          <a:prstGeom prst="roundRect">
            <a:avLst>
              <a:gd name="adj" fmla="val 3077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CEC8BCEA-5412-463D-891F-B4C5A006596B}"/>
              </a:ext>
            </a:extLst>
          </p:cNvPr>
          <p:cNvSpPr/>
          <p:nvPr/>
        </p:nvSpPr>
        <p:spPr>
          <a:xfrm>
            <a:off x="868680" y="4057605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pt-BR" sz="14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r>
              <a:rPr lang="pt-BR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4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pt-BR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</a:p>
          <a:p>
            <a:pPr>
              <a:lnSpc>
                <a:spcPct val="115000"/>
              </a:lnSpc>
            </a:pPr>
            <a:r>
              <a:rPr lang="pt-BR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*inicio;           </a:t>
            </a:r>
          </a:p>
          <a:p>
            <a:pPr>
              <a:lnSpc>
                <a:spcPct val="115000"/>
              </a:lnSpc>
            </a:pPr>
            <a:r>
              <a:rPr lang="pt-BR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*fim; </a:t>
            </a:r>
          </a:p>
          <a:p>
            <a:pPr>
              <a:lnSpc>
                <a:spcPct val="115000"/>
              </a:lnSpc>
            </a:pPr>
            <a:r>
              <a:rPr lang="pt-BR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4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</a:t>
            </a:r>
            <a:r>
              <a:rPr lang="pt-BR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tamanho;       </a:t>
            </a:r>
          </a:p>
          <a:p>
            <a:pPr>
              <a:lnSpc>
                <a:spcPct val="115000"/>
              </a:lnSpc>
            </a:pPr>
            <a:r>
              <a:rPr lang="pt-BR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pt-BR" sz="14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ListaDuplamenteEncadeada</a:t>
            </a:r>
            <a:r>
              <a:rPr lang="pt-BR" sz="14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>
              <a:solidFill>
                <a:srgbClr val="D7DBDD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LISTAS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Lista circular (simplesmente encadeada)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23560" cy="4206240"/>
          </a:xfrm>
          <a:prstGeom prst="roundRect">
            <a:avLst>
              <a:gd name="adj" fmla="val 1739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5166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pt-BR" sz="11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1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{</a:t>
            </a:r>
          </a:p>
          <a:p>
            <a:pPr>
              <a:lnSpc>
                <a:spcPct val="115000"/>
              </a:lnSpc>
            </a:pP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*dado; </a:t>
            </a:r>
          </a:p>
          <a:p>
            <a:pPr>
              <a:lnSpc>
                <a:spcPct val="115000"/>
              </a:lnSpc>
            </a:pP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1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*</a:t>
            </a:r>
            <a:r>
              <a:rPr lang="pt-BR" sz="11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</a:t>
            </a: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pPr>
              <a:lnSpc>
                <a:spcPct val="115000"/>
              </a:lnSpc>
            </a:pP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No;</a:t>
            </a:r>
          </a:p>
          <a:p>
            <a:pPr>
              <a:lnSpc>
                <a:spcPct val="115000"/>
              </a:lnSpc>
            </a:pPr>
            <a:endParaRPr lang="pt-BR" sz="1150" dirty="0">
              <a:solidFill>
                <a:srgbClr val="D7DBD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pt-BR" sz="11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1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</a:p>
          <a:p>
            <a:pPr>
              <a:lnSpc>
                <a:spcPct val="115000"/>
              </a:lnSpc>
            </a:pP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*inicio; </a:t>
            </a:r>
          </a:p>
          <a:p>
            <a:pPr>
              <a:lnSpc>
                <a:spcPct val="115000"/>
              </a:lnSpc>
            </a:pP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*fim; </a:t>
            </a:r>
          </a:p>
          <a:p>
            <a:pPr>
              <a:lnSpc>
                <a:spcPct val="115000"/>
              </a:lnSpc>
            </a:pP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1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</a:t>
            </a: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tamanho;       </a:t>
            </a:r>
          </a:p>
          <a:p>
            <a:pPr>
              <a:lnSpc>
                <a:spcPct val="115000"/>
              </a:lnSpc>
            </a:pP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pt-BR" sz="1150" dirty="0" err="1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ListaCircularSimples</a:t>
            </a:r>
            <a:r>
              <a:rPr lang="pt-BR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37960" y="196596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0" y="2148840"/>
            <a:ext cx="914400" cy="731520"/>
          </a:xfrm>
          <a:prstGeom prst="ellipse">
            <a:avLst/>
          </a:prstGeom>
          <a:solidFill>
            <a:srgbClr val="F4F5F6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2148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104120" y="3383280"/>
            <a:ext cx="914400" cy="731520"/>
          </a:xfrm>
          <a:prstGeom prst="ellipse">
            <a:avLst/>
          </a:prstGeom>
          <a:solidFill>
            <a:srgbClr val="F4F5F6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04120" y="3383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4617720"/>
            <a:ext cx="914400" cy="731520"/>
          </a:xfrm>
          <a:prstGeom prst="ellipse">
            <a:avLst/>
          </a:prstGeom>
          <a:solidFill>
            <a:srgbClr val="F4F5F6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4617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86600" y="3383280"/>
            <a:ext cx="914400" cy="731520"/>
          </a:xfrm>
          <a:prstGeom prst="ellipse">
            <a:avLst/>
          </a:prstGeom>
          <a:solidFill>
            <a:srgbClr val="F4F5F6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3383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41799" y="2833068"/>
            <a:ext cx="730283" cy="597504"/>
          </a:xfrm>
          <a:prstGeom prst="line">
            <a:avLst/>
          </a:prstGeom>
          <a:noFill/>
          <a:ln w="22225">
            <a:solidFill>
              <a:srgbClr val="2A9D5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9441799" y="4067508"/>
            <a:ext cx="730283" cy="597504"/>
          </a:xfrm>
          <a:prstGeom prst="line">
            <a:avLst/>
          </a:prstGeom>
          <a:noFill/>
          <a:ln w="22225">
            <a:solidFill>
              <a:srgbClr val="2A9D5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 flipV="1">
            <a:off x="7933039" y="4067508"/>
            <a:ext cx="730283" cy="597504"/>
          </a:xfrm>
          <a:prstGeom prst="line">
            <a:avLst/>
          </a:prstGeom>
          <a:noFill/>
          <a:ln w="22225">
            <a:solidFill>
              <a:srgbClr val="2A9D5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7933039" y="2833068"/>
            <a:ext cx="730283" cy="597504"/>
          </a:xfrm>
          <a:prstGeom prst="line">
            <a:avLst/>
          </a:prstGeom>
          <a:noFill/>
          <a:ln w="22225">
            <a:solidFill>
              <a:srgbClr val="2A9D5C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812280" y="5532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nó aponta de volta ao início — sem NULL.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LISTAS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Comparação das três listas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0456" y="2057400"/>
            <a:ext cx="3566160" cy="548640"/>
          </a:xfrm>
          <a:prstGeom prst="rect">
            <a:avLst/>
          </a:prstGeom>
          <a:solidFill>
            <a:srgbClr val="1B1F23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0456" y="2057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56616" y="2057400"/>
            <a:ext cx="2651760" cy="548640"/>
          </a:xfrm>
          <a:prstGeom prst="rect">
            <a:avLst/>
          </a:prstGeom>
          <a:solidFill>
            <a:srgbClr val="39D67E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56616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08376" y="2057400"/>
            <a:ext cx="2651760" cy="548640"/>
          </a:xfrm>
          <a:prstGeom prst="rect">
            <a:avLst/>
          </a:prstGeom>
          <a:solidFill>
            <a:srgbClr val="39D67E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8376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60136" y="2057400"/>
            <a:ext cx="2651760" cy="548640"/>
          </a:xfrm>
          <a:prstGeom prst="rect">
            <a:avLst/>
          </a:prstGeom>
          <a:solidFill>
            <a:srgbClr val="39D67E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60136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0456" y="2606040"/>
            <a:ext cx="3566160" cy="777240"/>
          </a:xfrm>
          <a:prstGeom prst="rect">
            <a:avLst/>
          </a:prstGeom>
          <a:solidFill>
            <a:srgbClr val="23282D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616" y="2606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por nó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56616" y="2606040"/>
            <a:ext cx="2651760" cy="777240"/>
          </a:xfrm>
          <a:prstGeom prst="rect">
            <a:avLst/>
          </a:prstGeom>
          <a:solidFill>
            <a:srgbClr val="20262B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3776" y="26060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ponteiro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08376" y="2606040"/>
            <a:ext cx="2651760" cy="777240"/>
          </a:xfrm>
          <a:prstGeom prst="rect">
            <a:avLst/>
          </a:prstGeom>
          <a:solidFill>
            <a:srgbClr val="20262B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5536" y="26060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ponteiros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60136" y="2606040"/>
            <a:ext cx="2651760" cy="777240"/>
          </a:xfrm>
          <a:prstGeom prst="rect">
            <a:avLst/>
          </a:prstGeom>
          <a:solidFill>
            <a:srgbClr val="20262B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7296" y="26060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ponteiro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0456" y="3383280"/>
            <a:ext cx="3566160" cy="777240"/>
          </a:xfrm>
          <a:prstGeom prst="rect">
            <a:avLst/>
          </a:prstGeom>
          <a:solidFill>
            <a:srgbClr val="23282D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616" y="33832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856616" y="3383280"/>
            <a:ext cx="2651760" cy="777240"/>
          </a:xfrm>
          <a:prstGeom prst="rect">
            <a:avLst/>
          </a:prstGeom>
          <a:solidFill>
            <a:srgbClr val="23282D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93776" y="33832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à frente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08376" y="3383280"/>
            <a:ext cx="2651760" cy="777240"/>
          </a:xfrm>
          <a:prstGeom prst="rect">
            <a:avLst/>
          </a:prstGeom>
          <a:solidFill>
            <a:srgbClr val="23282D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5536" y="33832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Bidirecional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60136" y="3383280"/>
            <a:ext cx="2651760" cy="777240"/>
          </a:xfrm>
          <a:prstGeom prst="rect">
            <a:avLst/>
          </a:prstGeom>
          <a:solidFill>
            <a:srgbClr val="23282D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7296" y="33832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à frente (loop)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0456" y="4160520"/>
            <a:ext cx="3566160" cy="777240"/>
          </a:xfrm>
          <a:prstGeom prst="rect">
            <a:avLst/>
          </a:prstGeom>
          <a:solidFill>
            <a:srgbClr val="23282D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616" y="41605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lista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856616" y="4160520"/>
            <a:ext cx="2651760" cy="777240"/>
          </a:xfrm>
          <a:prstGeom prst="rect">
            <a:avLst/>
          </a:prstGeom>
          <a:solidFill>
            <a:srgbClr val="20262B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93776" y="4160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08376" y="4160520"/>
            <a:ext cx="2651760" cy="777240"/>
          </a:xfrm>
          <a:prstGeom prst="rect">
            <a:avLst/>
          </a:prstGeom>
          <a:solidFill>
            <a:srgbClr val="20262B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5536" y="4160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60136" y="4160520"/>
            <a:ext cx="2651760" cy="777240"/>
          </a:xfrm>
          <a:prstGeom prst="rect">
            <a:avLst/>
          </a:prstGeom>
          <a:solidFill>
            <a:srgbClr val="20262B"/>
          </a:solidFill>
          <a:ln w="6350">
            <a:solidFill>
              <a:srgbClr val="2F35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7296" y="4160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ao início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LISTAS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Quando usar cada lista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514600"/>
            <a:ext cx="731520" cy="73152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6" name="Text 4"/>
          <p:cNvSpPr/>
          <p:nvPr/>
        </p:nvSpPr>
        <p:spPr>
          <a:xfrm>
            <a:off x="198882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 dos casos gerais — simplicidade e menor uso de memória.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10312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83580" y="2514600"/>
            <a:ext cx="731520" cy="73152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11" name="Text 9"/>
          <p:cNvSpPr/>
          <p:nvPr/>
        </p:nvSpPr>
        <p:spPr>
          <a:xfrm>
            <a:off x="578358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34840" y="34747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397764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bidirecional — editores de texto, histórico de páginas.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210312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78340" y="2514600"/>
            <a:ext cx="731520" cy="73152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16" name="Text 14"/>
          <p:cNvSpPr/>
          <p:nvPr/>
        </p:nvSpPr>
        <p:spPr>
          <a:xfrm>
            <a:off x="957834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0" y="34747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49640" y="397764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de processos, playlists e buffers em loop contínuo.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BLOCO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0175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Pilhas e Filas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acesso restrito construídas sobre listas encadeadas.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39D6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8463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48463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39D67E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48463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PILHAS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Pilha (Stack) — Conceito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LIFO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In, First Out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23060" y="3566160"/>
            <a:ext cx="2011680" cy="548640"/>
          </a:xfrm>
          <a:prstGeom prst="rect">
            <a:avLst/>
          </a:prstGeom>
          <a:solidFill>
            <a:srgbClr val="39D67E"/>
          </a:solidFill>
          <a:ln w="16510">
            <a:solidFill>
              <a:srgbClr val="1B1F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3060" y="3566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23060" y="4160520"/>
            <a:ext cx="2011680" cy="548640"/>
          </a:xfrm>
          <a:prstGeom prst="rect">
            <a:avLst/>
          </a:prstGeom>
          <a:solidFill>
            <a:srgbClr val="F4F5F6"/>
          </a:solidFill>
          <a:ln w="16510">
            <a:solidFill>
              <a:srgbClr val="1B1F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3060" y="4160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23060" y="4754880"/>
            <a:ext cx="2011680" cy="548640"/>
          </a:xfrm>
          <a:prstGeom prst="rect">
            <a:avLst/>
          </a:prstGeom>
          <a:solidFill>
            <a:srgbClr val="F4F5F6"/>
          </a:solidFill>
          <a:ln w="16510">
            <a:solidFill>
              <a:srgbClr val="1B1F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3060" y="4756673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7098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01168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0" y="2743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empilha um novo valor no topo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5080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0" y="3520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 retorna o valor do topo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508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0" y="4297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 valor do topo sem remover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5074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0" y="5074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a pilha está vazia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PILHAS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Exemplo de uso da Pilha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0" cy="2926080"/>
          </a:xfrm>
          <a:prstGeom prst="roundRect">
            <a:avLst>
              <a:gd name="adj" fmla="val 2500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9456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Pilha p;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inicializarPilha(&amp;p);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push(&amp;p, 10);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push(&amp;p, 20);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push(&amp;p, 30);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printf("Topo: %d\n", topo(&amp;p));  // 30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printf("Pop: %d\n", pop(&amp;p));    // 30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printf("Pop: %d\n", pop(&amp;p));    // 20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0" y="2011680"/>
            <a:ext cx="49377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 DA PILHA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0" y="2834640"/>
            <a:ext cx="2103120" cy="548640"/>
          </a:xfrm>
          <a:prstGeom prst="rect">
            <a:avLst/>
          </a:prstGeom>
          <a:solidFill>
            <a:srgbClr val="39D67E"/>
          </a:solidFill>
          <a:ln w="15240">
            <a:solidFill>
              <a:srgbClr val="1B1F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topo (após 2 pops)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41148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Ficaram: pilha com [10]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 20 já removidos.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PILHAS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Aplicações clássicas de Pilha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594360" cy="59436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Desfazer (Ctrl+Z)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ação empilhada; desfazer é um pop.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331720"/>
            <a:ext cx="594360" cy="59436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06640" y="22860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parênteses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30632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empilha, fecha desempilha e compara.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21380" y="41833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1420" y="4503420"/>
            <a:ext cx="594360" cy="59436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16" name="Text 14"/>
          <p:cNvSpPr/>
          <p:nvPr/>
        </p:nvSpPr>
        <p:spPr>
          <a:xfrm>
            <a:off x="3741420" y="45034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518660" y="44577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de chamadas de funções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1420" y="52349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chamada empilha um quadro de execução.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4480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PILHAS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Exemplo clássico: parênteses balanceados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400800" cy="3749040"/>
          </a:xfrm>
          <a:prstGeom prst="roundRect">
            <a:avLst>
              <a:gd name="adj" fmla="val 1951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5943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balanceados(char *expr) 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Pilha p;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inicializarPilha(&amp;p);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expr[i] != '\0'; i++) 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(expr[i] == '(')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push(&amp;p, '(');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(expr[i] == ')') 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(vazia(&amp;p)) return 0;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pop(&amp;p);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vazia(&amp;p);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69480" y="1965960"/>
            <a:ext cx="4251960" cy="1691640"/>
          </a:xfrm>
          <a:prstGeom prst="roundRect">
            <a:avLst>
              <a:gd name="adj" fmla="val 5405"/>
            </a:avLst>
          </a:prstGeom>
          <a:solidFill>
            <a:srgbClr val="E8F8EF"/>
          </a:solidFill>
          <a:ln w="15240">
            <a:solidFill>
              <a:srgbClr val="2A9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balanceados("((a+b)*c)")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  (verdadeiro)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269480" y="3794760"/>
            <a:ext cx="4251960" cy="1691640"/>
          </a:xfrm>
          <a:prstGeom prst="roundRect">
            <a:avLst>
              <a:gd name="adj" fmla="val 5405"/>
            </a:avLst>
          </a:prstGeom>
          <a:solidFill>
            <a:srgbClr val="FCEA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balanceados("((a+b)")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0" y="4526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0  (falso)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FILAS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Fila (Queue) — Conceito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9D6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FIFO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914400" cy="822960"/>
          </a:xfrm>
          <a:prstGeom prst="rect">
            <a:avLst/>
          </a:prstGeom>
          <a:solidFill>
            <a:srgbClr val="39D67E"/>
          </a:solidFill>
          <a:ln w="16510">
            <a:solidFill>
              <a:srgbClr val="2F3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9319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48840" y="3931920"/>
            <a:ext cx="914400" cy="822960"/>
          </a:xfrm>
          <a:prstGeom prst="rect">
            <a:avLst/>
          </a:prstGeom>
          <a:solidFill>
            <a:srgbClr val="FFFFFF"/>
          </a:solidFill>
          <a:ln w="16510">
            <a:solidFill>
              <a:srgbClr val="2F35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39319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3931920"/>
            <a:ext cx="914400" cy="822960"/>
          </a:xfrm>
          <a:prstGeom prst="rect">
            <a:avLst/>
          </a:prstGeom>
          <a:solidFill>
            <a:srgbClr val="FFFFFF"/>
          </a:solidFill>
          <a:ln w="16510">
            <a:solidFill>
              <a:srgbClr val="2F35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9319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846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4846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um novo valor no fim da fila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3520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 retorna o valor da frente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0" y="4297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 valor da frente sem remover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55080" y="5074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0" y="5074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a fila está vazia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FILAS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Implementação de Fila com lista encadeada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*inicio;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*fim;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Fila;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inicializarFila(Fila *f) {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f-&gt;inicio = NULL;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f-&gt;fim = NULL;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filaVazia(Fila *f) {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f-&gt;inicio == NULL;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enqueue(Fila *f, int valor) {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*novo = criarNo(valor);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82880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2011680"/>
            <a:ext cx="48006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(filaVazia(f)) {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f-&gt;inicio = f-&gt;fim = novo;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f-&gt;fim-&gt;prox = novo;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f-&gt;fim = novo;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dequeue(Fila *f) {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(filaVazia(f)) return -1;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*temp = f-&gt;inicio;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valor = temp-&gt;dado;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f-&gt;inicio = temp-&gt;prox;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(f-&gt;inicio == NULL) f-&gt;fim = NULL;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free(temp);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valor;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FILAS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Exemplo de uso da Fila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309360" cy="2651760"/>
          </a:xfrm>
          <a:prstGeom prst="roundRect">
            <a:avLst>
              <a:gd name="adj" fmla="val 2759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8600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 f;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inicializarFila(&amp;f);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enqueue(&amp;f, 10);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enqueue(&amp;f, 20);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enqueue(&amp;f, 30);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printf("Dequeue: %d\n", dequeue(&amp;f));  // 10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printf("Dequeue: %d\n", dequeue(&amp;f));  // 20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23760" y="2103120"/>
            <a:ext cx="4297680" cy="2651760"/>
          </a:xfrm>
          <a:prstGeom prst="roundRect">
            <a:avLst>
              <a:gd name="adj" fmla="val 3448"/>
            </a:avLst>
          </a:prstGeom>
          <a:solidFill>
            <a:srgbClr val="23282D"/>
          </a:solidFill>
          <a:ln w="15240">
            <a:solidFill>
              <a:srgbClr val="39D6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RESTOU NA FILA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95360" y="2834640"/>
            <a:ext cx="1463040" cy="777240"/>
          </a:xfrm>
          <a:prstGeom prst="rect">
            <a:avLst/>
          </a:prstGeom>
          <a:solidFill>
            <a:srgbClr val="39D67E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0" y="28346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elemento — frente e fim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INTEGRAÇÃO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Comparação rápida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148840" cy="502920"/>
          </a:xfrm>
          <a:prstGeom prst="rect">
            <a:avLst/>
          </a:prstGeom>
          <a:solidFill>
            <a:srgbClr val="F4F5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88920" y="1965960"/>
            <a:ext cx="2148840" cy="502920"/>
          </a:xfrm>
          <a:prstGeom prst="rect">
            <a:avLst/>
          </a:prstGeom>
          <a:solidFill>
            <a:srgbClr val="39D67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9659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37760" y="1965960"/>
            <a:ext cx="2148840" cy="502920"/>
          </a:xfrm>
          <a:prstGeom prst="rect">
            <a:avLst/>
          </a:prstGeom>
          <a:solidFill>
            <a:srgbClr val="39D67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9659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1965960"/>
            <a:ext cx="2286000" cy="502920"/>
          </a:xfrm>
          <a:prstGeom prst="rect">
            <a:avLst/>
          </a:prstGeom>
          <a:solidFill>
            <a:srgbClr val="39D67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2148840" cy="822960"/>
          </a:xfrm>
          <a:prstGeom prst="rect">
            <a:avLst/>
          </a:prstGeom>
          <a:solidFill>
            <a:srgbClr val="F0F1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46888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acesso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88920" y="2468880"/>
            <a:ext cx="2148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98648" y="246888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468880"/>
            <a:ext cx="2148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246888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246888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328" y="246888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posição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2148840" cy="822960"/>
          </a:xfrm>
          <a:prstGeom prst="rect">
            <a:avLst/>
          </a:prstGeom>
          <a:solidFill>
            <a:srgbClr val="F0F1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29184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88920" y="3291840"/>
            <a:ext cx="2148840" cy="822960"/>
          </a:xfrm>
          <a:prstGeom prst="rect">
            <a:avLst/>
          </a:prstGeom>
          <a:solidFill>
            <a:srgbClr val="F7F8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98648" y="329184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topo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291840"/>
            <a:ext cx="2148840" cy="822960"/>
          </a:xfrm>
          <a:prstGeom prst="rect">
            <a:avLst/>
          </a:prstGeom>
          <a:solidFill>
            <a:srgbClr val="F7F8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29184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fim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86600" y="3291840"/>
            <a:ext cx="2286000" cy="822960"/>
          </a:xfrm>
          <a:prstGeom prst="rect">
            <a:avLst/>
          </a:prstGeom>
          <a:solidFill>
            <a:srgbClr val="F7F8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329184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O(1)/O(n)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114800"/>
            <a:ext cx="2148840" cy="822960"/>
          </a:xfrm>
          <a:prstGeom prst="rect">
            <a:avLst/>
          </a:prstGeom>
          <a:solidFill>
            <a:srgbClr val="F0F1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11480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788920" y="4114800"/>
            <a:ext cx="2148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98648" y="411480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topo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4114800"/>
            <a:ext cx="2148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411480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frente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86600" y="411480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96328" y="411480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O(1)/O(n)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4937760"/>
            <a:ext cx="2148840" cy="822960"/>
          </a:xfrm>
          <a:prstGeom prst="rect">
            <a:avLst/>
          </a:prstGeom>
          <a:solidFill>
            <a:srgbClr val="F0F1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" y="493776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788920" y="4937760"/>
            <a:ext cx="2148840" cy="822960"/>
          </a:xfrm>
          <a:prstGeom prst="rect">
            <a:avLst/>
          </a:prstGeom>
          <a:solidFill>
            <a:srgbClr val="F7F8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98648" y="493776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Ctrl+Z, parênteses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37760" y="4937760"/>
            <a:ext cx="2148840" cy="822960"/>
          </a:xfrm>
          <a:prstGeom prst="rect">
            <a:avLst/>
          </a:prstGeom>
          <a:solidFill>
            <a:srgbClr val="F7F8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47488" y="493776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Impressão, buffers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086600" y="4937760"/>
            <a:ext cx="2286000" cy="822960"/>
          </a:xfrm>
          <a:prstGeom prst="rect">
            <a:avLst/>
          </a:prstGeom>
          <a:solidFill>
            <a:srgbClr val="F7F8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96328" y="493776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gerais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INTEGRAÇÃO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Exercícios para fazer em sala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25980"/>
            <a:ext cx="457200" cy="45720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59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a função de remoção por valor na lista simplesmente encadeada.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76372"/>
            <a:ext cx="457200" cy="45720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763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81635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tamanho() para pilha e fila.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666744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826764"/>
            <a:ext cx="457200" cy="45720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267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666744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pilha para inverter uma string.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51713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677156"/>
            <a:ext cx="457200" cy="45720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771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517136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uma fila de impressão com 5 documentos.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536752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527548"/>
            <a:ext cx="457200" cy="457200"/>
          </a:xfrm>
          <a:prstGeom prst="ellipse">
            <a:avLst/>
          </a:prstGeom>
          <a:solidFill>
            <a:srgbClr val="39D67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527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36752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 verificação de parênteses com várias expressões.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9D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5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Resumo final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6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de tamanho — alocação dinâmica com malloc/free.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2402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6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Pilha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0" y="29260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→ histórico de ações e controle de fluxo de execução.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23282D"/>
          </a:solidFill>
          <a:ln w="12700">
            <a:solidFill>
              <a:srgbClr val="2F35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402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6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49640" y="29260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→ ordenação temporal e processamento em ordem de chegada.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39D6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libere memória com free() após cada remoção!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 |  Listas, Pilhas e Filas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1896</Words>
  <Application>Microsoft Office PowerPoint</Application>
  <PresentationFormat>Widescreen</PresentationFormat>
  <Paragraphs>424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Bookman Old Style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Felipe</cp:lastModifiedBy>
  <cp:revision>6</cp:revision>
  <dcterms:created xsi:type="dcterms:W3CDTF">2026-08-26T00:55:19Z</dcterms:created>
  <dcterms:modified xsi:type="dcterms:W3CDTF">2026-08-26T22:18:41Z</dcterms:modified>
</cp:coreProperties>
</file>