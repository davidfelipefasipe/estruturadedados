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421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229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17152" y="8229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0384" y="8229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6B47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43616" y="8229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8229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[ 0 ]  [ 1 ]  [ 2 ]  [ 3 ]  [ 4 ]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Conceitos, operações e algoritmos fundamentais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2011680" cy="0"/>
          </a:xfrm>
          <a:prstGeom prst="line">
            <a:avLst/>
          </a:prstGeom>
          <a:noFill/>
          <a:ln w="38100">
            <a:solidFill>
              <a:srgbClr val="FF6B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983480"/>
            <a:ext cx="548640" cy="548640"/>
          </a:xfrm>
          <a:prstGeom prst="ellipse">
            <a:avLst/>
          </a:prstGeom>
          <a:solidFill>
            <a:srgbClr val="2C3B7A"/>
          </a:solidFill>
          <a:ln/>
        </p:spPr>
      </p:sp>
      <p:pic>
        <p:nvPicPr>
          <p:cNvPr id="13" name="Image 0" descr="icons/teach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2064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4983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David Alves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19842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1122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4767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de lista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54480" y="22585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Definição, características e tipos de listas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73405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6968" y="28437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s/memo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97180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807208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em memória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1554480" y="311810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sequencial (vetor) vs. lista encadeada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424160" y="2944368"/>
            <a:ext cx="5349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59359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86968" y="3703320"/>
            <a:ext cx="512064" cy="512064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21" name="Image 2" descr="icons/plu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83133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666744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de inserção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1554480" y="3977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Início, meio, fim e inserção ordenada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424160" y="3803904"/>
            <a:ext cx="612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45312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86968" y="4562856"/>
            <a:ext cx="512064" cy="512064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28" name="Image 3" descr="icons/minu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690872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54480" y="4526280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de remoção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1554480" y="483717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no início, no meio e no fim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48640" y="53126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86968" y="54223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icons/searc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5550408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554480" y="5385816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prática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1554480" y="569671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linear, complexidade e exercício guiado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0424160" y="5522976"/>
            <a:ext cx="612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lista?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3093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17904"/>
            <a:ext cx="5715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é uma estrutura de dados linear, flexível e dinâmica, capaz de armazenar uma coleção ordenada de elementos que podem crescer ou diminuir durante a execução do programa.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86600" y="1371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47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16952" y="134416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
</a:t>
            </a: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muda em tempo de execução — não é fixo como um array estático.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86600" y="23042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47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16952" y="2276856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
</a:t>
            </a: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tem uma posição definida (um índice ou uma referência).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47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16952" y="3209544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
</a:t>
            </a: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inserir e remover elementos em qualquer posição da coleção.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86600" y="41696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47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16952" y="414223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Homogênea (em geral)
</a:t>
            </a:r>
            <a:r>
              <a:rPr lang="en-US" sz="12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Costuma armazenar elementos do mesmo tipo de dado.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visual: uma lista de números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2900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424281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09928" y="342900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09928" y="342900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09928" y="424281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71216" y="342900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71216" y="342900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871216" y="424281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32504" y="342900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32504" y="342900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032504" y="424281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93792" y="342900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93792" y="342900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93792" y="424281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5262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 guarda um valor; a posição (índice) indica a ordem do elemento na lista.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/>
        </p:spPr>
      </p:sp>
      <p:sp>
        <p:nvSpPr>
          <p:cNvPr id="36" name="Shape 34"/>
          <p:cNvSpPr/>
          <p:nvPr/>
        </p:nvSpPr>
        <p:spPr>
          <a:xfrm>
            <a:off x="891540" y="5436108"/>
            <a:ext cx="502920" cy="502920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37" name="Image 0" descr="icons/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5561838"/>
            <a:ext cx="251460" cy="25146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554480" y="52852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central:  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resolvem o problema dos vetores de tamanho fixo, permitindo que a estrutura acompanhe a quantidade real de dados do programa.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jeitos de implementar uma lista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53492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Sequencial (Vetor)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8412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331720"/>
            <a:ext cx="841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05409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19656" y="2331720"/>
            <a:ext cx="8412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19656" y="2331720"/>
            <a:ext cx="841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19656" y="305409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70632" y="2331720"/>
            <a:ext cx="8412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70632" y="2331720"/>
            <a:ext cx="841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70632" y="305409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21608" y="2331720"/>
            <a:ext cx="841248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721608" y="305409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72584" y="2331720"/>
            <a:ext cx="841248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672584" y="305409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Elementos ficam em posições contíguas de memória.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Acesso direto por índice: O(1).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Inserir/remover no meio exige deslocar elementos.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Requer espaço pré-alocado (pode desperdiçar ou faltar).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141732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41732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3B4B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1737360"/>
            <a:ext cx="5349240" cy="320040"/>
          </a:xfrm>
          <a:prstGeom prst="rect">
            <a:avLst/>
          </a:prstGeom>
          <a:solidFill>
            <a:srgbClr val="3B4B8C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14173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Encadeada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83680" y="23774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3B4B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377440"/>
            <a:ext cx="6519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35647" y="2377440"/>
            <a:ext cx="0" cy="685800"/>
          </a:xfrm>
          <a:prstGeom prst="line">
            <a:avLst/>
          </a:prstGeom>
          <a:noFill/>
          <a:ln w="12700">
            <a:solidFill>
              <a:srgbClr val="3B4B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62672" y="2665476"/>
            <a:ext cx="292608" cy="109728"/>
          </a:xfrm>
          <a:prstGeom prst="rightArrow">
            <a:avLst/>
          </a:prstGeom>
          <a:solidFill>
            <a:srgbClr val="3B4B8C"/>
          </a:solidFill>
          <a:ln/>
        </p:spPr>
      </p:sp>
      <p:sp>
        <p:nvSpPr>
          <p:cNvPr id="32" name="Shape 30"/>
          <p:cNvSpPr/>
          <p:nvPr/>
        </p:nvSpPr>
        <p:spPr>
          <a:xfrm>
            <a:off x="8019288" y="23774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3B4B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19288" y="2377440"/>
            <a:ext cx="6519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671255" y="2377440"/>
            <a:ext cx="0" cy="685800"/>
          </a:xfrm>
          <a:prstGeom prst="line">
            <a:avLst/>
          </a:prstGeom>
          <a:noFill/>
          <a:ln w="12700">
            <a:solidFill>
              <a:srgbClr val="3B4B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98280" y="2665476"/>
            <a:ext cx="292608" cy="109728"/>
          </a:xfrm>
          <a:prstGeom prst="rightArrow">
            <a:avLst/>
          </a:prstGeom>
          <a:solidFill>
            <a:srgbClr val="3B4B8C"/>
          </a:solidFill>
          <a:ln/>
        </p:spPr>
      </p:sp>
      <p:sp>
        <p:nvSpPr>
          <p:cNvPr id="36" name="Shape 34"/>
          <p:cNvSpPr/>
          <p:nvPr/>
        </p:nvSpPr>
        <p:spPr>
          <a:xfrm>
            <a:off x="9454896" y="237744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3B4B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54896" y="2377440"/>
            <a:ext cx="6519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106863" y="2377440"/>
            <a:ext cx="0" cy="685800"/>
          </a:xfrm>
          <a:prstGeom prst="line">
            <a:avLst/>
          </a:prstGeom>
          <a:noFill/>
          <a:ln w="12700">
            <a:solidFill>
              <a:srgbClr val="3B4B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97896" y="25831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37960" y="338328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nó guarda um valor + um ponteiro para o próximo.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Elementos podem estar espalhados na memória.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Inserir/remover é rápido, sem deslocar elementos.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Acesso a um elemento exige percorrer a lista: O(n).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lista vive na memória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 trabalharemos a lista sequencial: um vetor com um contador de elementos válidos (tamanho lógico).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  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20240" y="19659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20240" y="196596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825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1528" y="19659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81528" y="196596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81528" y="2825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42816" y="19659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42816" y="196596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42816" y="2825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04104" y="19659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04104" y="196596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04104" y="2825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65392" y="19659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565392" y="2825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19659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26680" y="2825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87968" y="19659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887968" y="2825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2971800"/>
            <a:ext cx="4206240" cy="0"/>
          </a:xfrm>
          <a:prstGeom prst="line">
            <a:avLst/>
          </a:prstGeom>
          <a:noFill/>
          <a:ln w="25400">
            <a:solidFill>
              <a:srgbClr val="FF6B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(n) = 4  →  elementos válidos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202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= 7  →  espaço total alocado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148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0" descr="icons/mem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215384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80160" y="41148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Índice:  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do elemento, começando em 0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67512" y="47731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1" descr="icons/mem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73752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80160" y="477316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lógico (n):  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elementos estão realmente ocupados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667512" y="54315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2" descr="icons/mem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532120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80160" y="543153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Capacidade:  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espaço foi reservado na memória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OPERAÇÕES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Operações com listas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agora, vamos construir cada operação passo a passo, com diagrama e pseudocódigo.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59636" y="2295144"/>
            <a:ext cx="566928" cy="566928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7" name="Image 0" descr="icons/plu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2436876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0632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 início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0116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94276" y="2295144"/>
            <a:ext cx="566928" cy="566928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12" name="Image 1" descr="icons/plu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436876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0632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 meio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0116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28916" y="2295144"/>
            <a:ext cx="566928" cy="566928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17" name="Image 2" descr="icons/plu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2436876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0632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 fim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0" y="20116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163556" y="2295144"/>
            <a:ext cx="566928" cy="566928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22" name="Image 3" descr="icons/so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288" y="2436876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53728" y="306324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ordenado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3544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931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659636" y="4215384"/>
            <a:ext cx="566928" cy="566928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27" name="Image 4" descr="icons/minu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368" y="4357116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498348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no início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31520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474720" y="3931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494276" y="4215384"/>
            <a:ext cx="566928" cy="566928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32" name="Image 5" descr="icons/minu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357116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84448" y="498348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no meio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566160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309360" y="3931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328916" y="4215384"/>
            <a:ext cx="566928" cy="566928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37" name="Image 6" descr="icons/minu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4357116"/>
            <a:ext cx="283464" cy="28346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19088" y="498348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no fim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400800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144000" y="39319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10163556" y="4215384"/>
            <a:ext cx="566928" cy="566928"/>
          </a:xfrm>
          <a:prstGeom prst="ellipse">
            <a:avLst/>
          </a:prstGeom>
          <a:solidFill>
            <a:srgbClr val="3B4B8C"/>
          </a:solidFill>
          <a:ln/>
        </p:spPr>
      </p:sp>
      <p:pic>
        <p:nvPicPr>
          <p:cNvPr id="42" name="Image 7" descr="icons/sear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288" y="4357116"/>
            <a:ext cx="283464" cy="28346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53728" y="4983480"/>
            <a:ext cx="2386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235440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INSERÇÃO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Inserção no início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elemento existente precisa ser deslocado uma posição à direita para abrir espaço no índice 0.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0817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0817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817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6771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6771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724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2724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2724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23944" y="2176272"/>
            <a:ext cx="502920" cy="201168"/>
          </a:xfrm>
          <a:prstGeom prst="rightArrow">
            <a:avLst/>
          </a:prstGeom>
          <a:solidFill>
            <a:srgbClr val="FF6B47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64024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6B47"/>
          </a:solidFill>
          <a:ln w="19050">
            <a:solidFill>
              <a:srgbClr val="FF6B47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4024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8309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8309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309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4263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4263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4263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0216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0216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0216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2880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elementos originais deslocam-se uma posição para a direita antes de 99 ser escrito no índice 0.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5661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566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7552" y="35478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há espaço (capacidade &gt; tamanho).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548640" y="40233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7552" y="40050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do último elemento até o primeiro.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548640" y="44805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7552" y="44622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Desloque cada elemento uma posição à direita.</a:t>
            </a:r>
            <a:endParaRPr lang="en-US" sz="1180" dirty="0"/>
          </a:p>
        </p:txBody>
      </p:sp>
      <p:sp>
        <p:nvSpPr>
          <p:cNvPr id="46" name="Shape 44"/>
          <p:cNvSpPr/>
          <p:nvPr/>
        </p:nvSpPr>
        <p:spPr>
          <a:xfrm>
            <a:off x="548640" y="49377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87552" y="49194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novo valor no índice 0.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548640" y="53949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5394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7552" y="53766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Incremente o tamanho da lista.</a:t>
            </a:r>
            <a:endParaRPr lang="en-US" sz="1180" dirty="0"/>
          </a:p>
        </p:txBody>
      </p:sp>
      <p:sp>
        <p:nvSpPr>
          <p:cNvPr id="52" name="Shape 50"/>
          <p:cNvSpPr/>
          <p:nvPr/>
        </p:nvSpPr>
        <p:spPr>
          <a:xfrm>
            <a:off x="5806440" y="3246120"/>
            <a:ext cx="5806440" cy="2514600"/>
          </a:xfrm>
          <a:prstGeom prst="roundRect">
            <a:avLst>
              <a:gd name="adj" fmla="val 2909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062472" y="3429000"/>
            <a:ext cx="529437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inserirInicio(lista, valor)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de lista.n até 1, passo -1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lista[i] ← lista[i-1]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 para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lista[0] ← valor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lista.n ← lista.n + 1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função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CADCFC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r>
              <a:rPr lang="en-US" sz="125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desloca todos os elementos existentes.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INSERÇÃO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Inserção no meio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os elementos à direita da posição de inserção são deslocados.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0817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0817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817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6771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6771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724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2724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2724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23944" y="2176272"/>
            <a:ext cx="502920" cy="201168"/>
          </a:xfrm>
          <a:prstGeom prst="rightArrow">
            <a:avLst/>
          </a:prstGeom>
          <a:solidFill>
            <a:srgbClr val="FF6B47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64024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4024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8309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6B47"/>
          </a:solidFill>
          <a:ln w="19050">
            <a:solidFill>
              <a:srgbClr val="FF6B47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8309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309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4263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4263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4263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0216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0216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0216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2880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Inserindo 99 na posição 2: os elementos 8 e 23 (posições 2 e 3) deslocam-se uma casa à direita.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5661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566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7552" y="35478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a posição: 0 ≤ posição ≤ tamanho.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548640" y="40233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7552" y="40050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do fim até a posição desejada.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548640" y="44805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7552" y="44622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Desloque cada elemento uma posição à direita.</a:t>
            </a:r>
            <a:endParaRPr lang="en-US" sz="1180" dirty="0"/>
          </a:p>
        </p:txBody>
      </p:sp>
      <p:sp>
        <p:nvSpPr>
          <p:cNvPr id="46" name="Shape 44"/>
          <p:cNvSpPr/>
          <p:nvPr/>
        </p:nvSpPr>
        <p:spPr>
          <a:xfrm>
            <a:off x="548640" y="49377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87552" y="49194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valor na posição indicada.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548640" y="53949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5394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7552" y="53766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Incremente o tamanho da lista.</a:t>
            </a:r>
            <a:endParaRPr lang="en-US" sz="1180" dirty="0"/>
          </a:p>
        </p:txBody>
      </p:sp>
      <p:sp>
        <p:nvSpPr>
          <p:cNvPr id="52" name="Shape 50"/>
          <p:cNvSpPr/>
          <p:nvPr/>
        </p:nvSpPr>
        <p:spPr>
          <a:xfrm>
            <a:off x="5806440" y="3246120"/>
            <a:ext cx="5806440" cy="2514600"/>
          </a:xfrm>
          <a:prstGeom prst="roundRect">
            <a:avLst>
              <a:gd name="adj" fmla="val 2909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062472" y="3429000"/>
            <a:ext cx="529437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inserirMeio(lista, pos, valor)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de lista.n até pos+1, passo -1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lista[i] ← lista[i-1]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 para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lista[pos] ← valor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lista.n ← lista.n + 1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função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CADCFC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r>
              <a:rPr lang="en-US" sz="125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pior caso próximo do início; melhor caso perto do fim.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INSERÇÃO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Inserção no fim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elemento precisa ser deslocado: o novo valor ocupa a próxima posição livre.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0817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0817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817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6771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6771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724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2724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2724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23944" y="2176272"/>
            <a:ext cx="502920" cy="201168"/>
          </a:xfrm>
          <a:prstGeom prst="rightArrow">
            <a:avLst/>
          </a:prstGeom>
          <a:solidFill>
            <a:srgbClr val="FF6B47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64024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4024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8309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8309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309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4263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4263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4263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0216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6B47"/>
          </a:solidFill>
          <a:ln w="19050">
            <a:solidFill>
              <a:srgbClr val="FF6B47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0216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0216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2880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não há elementos depois da última posição, a inserção é direta — sem deslocamentos.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5661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566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7552" y="35478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há espaço (capacidade &gt; tamanho).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548640" y="40233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7552" y="40050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valor na posição lista.n.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548640" y="44805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7552" y="44622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Incremente o tamanho da lista.</a:t>
            </a:r>
            <a:endParaRPr lang="en-US" sz="1180" dirty="0"/>
          </a:p>
        </p:txBody>
      </p:sp>
      <p:sp>
        <p:nvSpPr>
          <p:cNvPr id="46" name="Shape 44"/>
          <p:cNvSpPr/>
          <p:nvPr/>
        </p:nvSpPr>
        <p:spPr>
          <a:xfrm>
            <a:off x="548640" y="49377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87552" y="49194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(Não há deslocamento de elementos.)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5806440" y="3246120"/>
            <a:ext cx="5806440" cy="2514600"/>
          </a:xfrm>
          <a:prstGeom prst="roundRect">
            <a:avLst>
              <a:gd name="adj" fmla="val 2909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062472" y="3429000"/>
            <a:ext cx="529437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inserirFim(lista, valor)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lista[lista.n] ← valor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lista.n ← lista.n + 1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função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operação mais eficiente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 inserção na lista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CADCFC"/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r>
              <a:rPr lang="en-US" sz="125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tempo constante, a operação mais rápida de inserção.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INSERÇÃO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Inserção ordenada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lista sempre em ordem crescente: primeiro localizamos a posição correta e depois deslocamos.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ordenada antes de inserir 23: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99616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99616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9616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50592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1568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01568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01568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52544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52544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52544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2194560"/>
            <a:ext cx="457200" cy="201168"/>
          </a:xfrm>
          <a:prstGeom prst="rightArrow">
            <a:avLst/>
          </a:prstGeom>
          <a:solidFill>
            <a:srgbClr val="FF6B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inserir 23: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43216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43216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43216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94192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94192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94192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45168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6B47"/>
          </a:solidFill>
          <a:ln w="19050">
            <a:solidFill>
              <a:srgbClr val="FF6B47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45168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345168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96144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296144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296144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247120" y="1965960"/>
            <a:ext cx="84124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1247120" y="1965960"/>
            <a:ext cx="841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247120" y="266090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28803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posição correta é encontrada comparando 23 com os elementos: 18 &lt; 23 &lt; 30 → entra no índice 3.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" y="36118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3611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7552" y="35935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a lista comparando o valor com cada elemento.</a:t>
            </a:r>
            <a:endParaRPr lang="en-US" sz="1180" dirty="0"/>
          </a:p>
        </p:txBody>
      </p:sp>
      <p:sp>
        <p:nvSpPr>
          <p:cNvPr id="46" name="Shape 44"/>
          <p:cNvSpPr/>
          <p:nvPr/>
        </p:nvSpPr>
        <p:spPr>
          <a:xfrm>
            <a:off x="548640" y="40690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069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87552" y="4050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no primeiro elemento maior que o valor a inserir.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548640" y="45262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526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7552" y="45079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posição é o ponto correto de inserção.</a:t>
            </a:r>
            <a:endParaRPr lang="en-US" sz="1180" dirty="0"/>
          </a:p>
        </p:txBody>
      </p:sp>
      <p:sp>
        <p:nvSpPr>
          <p:cNvPr id="52" name="Shape 50"/>
          <p:cNvSpPr/>
          <p:nvPr/>
        </p:nvSpPr>
        <p:spPr>
          <a:xfrm>
            <a:off x="548640" y="49834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4983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87552" y="49651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Desloque os elementos à direita dessa posição.</a:t>
            </a:r>
            <a:endParaRPr lang="en-US" sz="1180" dirty="0"/>
          </a:p>
        </p:txBody>
      </p:sp>
      <p:sp>
        <p:nvSpPr>
          <p:cNvPr id="55" name="Shape 53"/>
          <p:cNvSpPr/>
          <p:nvPr/>
        </p:nvSpPr>
        <p:spPr>
          <a:xfrm>
            <a:off x="548640" y="54406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5440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87552" y="54223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o valor e incremente o tamanho.</a:t>
            </a:r>
            <a:endParaRPr lang="en-US" sz="1180" dirty="0"/>
          </a:p>
        </p:txBody>
      </p:sp>
      <p:sp>
        <p:nvSpPr>
          <p:cNvPr id="58" name="Shape 56"/>
          <p:cNvSpPr/>
          <p:nvPr/>
        </p:nvSpPr>
        <p:spPr>
          <a:xfrm>
            <a:off x="5806440" y="3246120"/>
            <a:ext cx="5806440" cy="2651760"/>
          </a:xfrm>
          <a:prstGeom prst="roundRect">
            <a:avLst>
              <a:gd name="adj" fmla="val 2759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062472" y="3429000"/>
            <a:ext cx="529437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inserirOrdenado(lista, valor)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 ← 0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enquanto pos &lt; lista.n e lista[pos] &lt; valor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 ← pos + 1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 enquanto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de lista.n até pos+1, passo -1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lista[i] ← lista[i-1]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 para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lista[pos] ← valor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lista.n ← lista.n + 1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função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CADCFC"/>
          </a:solidFill>
          <a:ln/>
        </p:spPr>
      </p:sp>
      <p:sp>
        <p:nvSpPr>
          <p:cNvPr id="61" name="Text 59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r>
              <a:rPr lang="en-US" sz="125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busca da posição + deslocamento, ambos lineares.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REMOÇÃO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Remoção no início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elementos deslocam-se uma posição à esquerda para preencher o espaço deixado.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0817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0817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817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6771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6771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724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2724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2724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23944" y="2176272"/>
            <a:ext cx="502920" cy="201168"/>
          </a:xfrm>
          <a:prstGeom prst="rightArrow">
            <a:avLst/>
          </a:prstGeom>
          <a:solidFill>
            <a:srgbClr val="FF6B47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64024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4024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8309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8309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309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4263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4263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2880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elemento 12 é removido; 47, 8 e 23 deslocam-se uma posição à esquerda.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566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35478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a lista não está vazia.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7552" y="40050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Guarde/descarte o valor do índice 0, se necessário.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548640" y="44805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7552" y="44622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a lista da posição 1 até o fim.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548640" y="49377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87552" y="49194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Desloque cada elemento uma posição à esquerda.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394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87552" y="53766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Decremente o tamanho da lista.</a:t>
            </a:r>
            <a:endParaRPr lang="en-US" sz="1180" dirty="0"/>
          </a:p>
        </p:txBody>
      </p:sp>
      <p:sp>
        <p:nvSpPr>
          <p:cNvPr id="48" name="Shape 46"/>
          <p:cNvSpPr/>
          <p:nvPr/>
        </p:nvSpPr>
        <p:spPr>
          <a:xfrm>
            <a:off x="5806440" y="3246120"/>
            <a:ext cx="5806440" cy="2514600"/>
          </a:xfrm>
          <a:prstGeom prst="roundRect">
            <a:avLst>
              <a:gd name="adj" fmla="val 2909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062472" y="3429000"/>
            <a:ext cx="529437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removerInicio(lista)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de 0 até lista.n - 2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lista[i] ← lista[i+1]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 para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lista.n ← lista.n - 1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função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CADCF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r>
              <a:rPr lang="en-US" sz="125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desloca todos os elementos restantes.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REMOÇÃO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Remoção no meio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os elementos após a posição removida precisam ser deslocados.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0817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0817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817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6771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6771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724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2724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2724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23944" y="2176272"/>
            <a:ext cx="502920" cy="201168"/>
          </a:xfrm>
          <a:prstGeom prst="rightArrow">
            <a:avLst/>
          </a:prstGeom>
          <a:solidFill>
            <a:srgbClr val="FF6B47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64024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4024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8309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8309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309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4263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4263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2880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Removendo a posição 2 (valor 8): o elemento 23 desloca-se uma posição à esquerda.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566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35478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a posição: 0 ≤ posição &lt; tamanho.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7552" y="40050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Percorra a partir da posição removida.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548640" y="44805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7552" y="44622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Desloque cada elemento seguinte uma casa à esquerda.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548640" y="49377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87552" y="49194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até alcançar o fim da lista.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394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87552" y="53766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Decremente o tamanho da lista.</a:t>
            </a:r>
            <a:endParaRPr lang="en-US" sz="1180" dirty="0"/>
          </a:p>
        </p:txBody>
      </p:sp>
      <p:sp>
        <p:nvSpPr>
          <p:cNvPr id="48" name="Shape 46"/>
          <p:cNvSpPr/>
          <p:nvPr/>
        </p:nvSpPr>
        <p:spPr>
          <a:xfrm>
            <a:off x="5806440" y="3246120"/>
            <a:ext cx="5806440" cy="2514600"/>
          </a:xfrm>
          <a:prstGeom prst="roundRect">
            <a:avLst>
              <a:gd name="adj" fmla="val 2909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062472" y="3429000"/>
            <a:ext cx="529437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removerMeio(lista, pos)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de pos até lista.n - 2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lista[i] ← lista[i+1]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 para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lista.n ← lista.n - 1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função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CADCF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r>
              <a:rPr lang="en-US" sz="125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pior caso perto do início da lista.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REMOÇÃO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Remoção no fim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elemento precisa ser deslocado: basta 'esquecer' a última posição.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0817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0817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817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67712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6771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7248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27248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27248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23944" y="2176272"/>
            <a:ext cx="502920" cy="201168"/>
          </a:xfrm>
          <a:prstGeom prst="rightArrow">
            <a:avLst/>
          </a:prstGeom>
          <a:solidFill>
            <a:srgbClr val="FF6B47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64024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64024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4024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83096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83096" y="196596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3096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42632" y="1965960"/>
            <a:ext cx="749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42632" y="26243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2880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não há elementos depois da última posição, a remoção é direta — sem deslocamentos.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566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35478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a lista não está vazia.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7552" y="40050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(Opcional) leia o valor em lista[n-1].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548640" y="44805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480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7552" y="44622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Decremente o tamanho da lista.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548640" y="49377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937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87552" y="49194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(Não há deslocamento de elementos.)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5806440" y="3246120"/>
            <a:ext cx="5806440" cy="2514600"/>
          </a:xfrm>
          <a:prstGeom prst="roundRect">
            <a:avLst>
              <a:gd name="adj" fmla="val 2909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62472" y="3429000"/>
            <a:ext cx="529437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removerFim(lista)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lista.n ← lista.n - 1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função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operação mais eficiente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 remoção na lista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CADCFC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r>
              <a:rPr lang="en-US" sz="125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tempo constante, a operação mais rápida de remoção.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BUSCA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uma lista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linear percorre a lista elemento a elemento até encontrar o valor procurado (ou chegar ao fim).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Procurando o valor 8 na lista: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523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72768" y="196596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72768" y="196596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7523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96896" y="196596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FF6B47"/>
          </a:solidFill>
          <a:ln w="19050">
            <a:solidFill>
              <a:srgbClr val="FF6B47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96896" y="196596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96896" y="27523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21024" y="196596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196596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21024" y="27523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5152" y="196596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5152" y="196596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45152" y="27523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96896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 no índice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(busca linear)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49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" y="37307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índice 0.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548640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187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416966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valor atual com o valor buscado.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48640" y="462686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626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460857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 igual, retorne o índice encontrado.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548640" y="506577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065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7552" y="504748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não, avance para o próximo índice.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548640" y="550468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47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504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7552" y="548640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chegar ao fim sem encontrar, retorne 'não encontrado'.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5806440" y="3429000"/>
            <a:ext cx="5806440" cy="2331720"/>
          </a:xfrm>
          <a:prstGeom prst="roundRect">
            <a:avLst>
              <a:gd name="adj" fmla="val 3137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62472" y="3611880"/>
            <a:ext cx="529437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 buscar(lista, valor)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i de 0 até lista.n - 1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lista[i] = valor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retorne i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fim se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 para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retorne -1  // não encontrado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função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5517"/>
            </a:avLst>
          </a:prstGeom>
          <a:solidFill>
            <a:srgbClr val="CADCFC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</a:t>
            </a:r>
            <a:r>
              <a:rPr lang="en-US" sz="12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melhor caso   O(n) pior caso  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depende da posição do elemento buscado.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as complexidades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custo (Big O) de cada operação estudada nesta aula.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111A44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solidFill>
            <a:srgbClr val="2C3B7A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 início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 todos os elementos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solidFill>
            <a:srgbClr val="263874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 meio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 elementos à direita da posição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solidFill>
            <a:srgbClr val="2C3B7A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 fim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deslocamento necessário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solidFill>
            <a:srgbClr val="263874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57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ordenado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 posição + desloca elementos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solidFill>
            <a:srgbClr val="2C3B7A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no início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 todos os elementos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solidFill>
            <a:srgbClr val="263874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no meio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 elementos à direita da posição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solidFill>
            <a:srgbClr val="2C3B7A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no fim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06640" y="5029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deslocamento necessário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263874"/>
          </a:solidFill>
          <a:ln w="6350">
            <a:solidFill>
              <a:srgbClr val="3B4B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486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5486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5486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percorrer a lista inteira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lista de compras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aplicar as operações estudadas em um cenário simples: gerenciar itens de uma lista de compras.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Início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6459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64608" y="164592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6459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inserirFim('Leite')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432304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43230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Arroz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64608" y="2432304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4608" y="243230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Feijão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45936" y="2432304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6B47"/>
          </a:solidFill>
          <a:ln w="19050">
            <a:solidFill>
              <a:srgbClr val="FF6B47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45936" y="243230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inserirInicio('Café')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3218688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6B47"/>
          </a:solidFill>
          <a:ln w="19050">
            <a:solidFill>
              <a:srgbClr val="FF6B47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32186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64608" y="3218688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32186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Arroz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45936" y="3218688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45936" y="32186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Feijão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827264" y="3218688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27264" y="32186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" y="40965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removerMeio(2)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83280" y="4005072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83280" y="400507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864608" y="4005072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64608" y="400507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Arroz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45936" y="4005072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45936" y="400507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6204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4672" y="5440680"/>
            <a:ext cx="10552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← criarLista()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inserirFim(lista, "Arroz");  inserirFim(lista, "Feijão");  inserirFim(lista, "Leite")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inserirInicio(lista, "Café");  removerMeio(lista, 2)  // remove "Feijão"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lista final: Café, Arroz, Leite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A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6" name="Image 0" descr="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509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a lista  [ 3, 9, 15, 22, 31 ]  , faça manualmente: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 o estado completo da lista após cada operação.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36499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364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32461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o valor 18 de forma ordenada.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405079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050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80160" y="39319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 o elemento da posição 1 (valor 9).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" y="473659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736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80160" y="4617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o valor 40 no fim da lista.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530352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2239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422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80160" y="53035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o valor 22 e informe seu índice final.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1600200"/>
            <a:ext cx="845820" cy="310896"/>
          </a:xfrm>
          <a:prstGeom prst="roundRect">
            <a:avLst>
              <a:gd name="adj" fmla="val 50000"/>
            </a:avLst>
          </a:prstGeom>
          <a:solidFill>
            <a:srgbClr val="FF6B47"/>
          </a:solidFill>
          <a:ln/>
        </p:spPr>
      </p:sp>
      <p:sp>
        <p:nvSpPr>
          <p:cNvPr id="25" name="Text 22"/>
          <p:cNvSpPr/>
          <p:nvPr/>
        </p:nvSpPr>
        <p:spPr>
          <a:xfrm>
            <a:off x="9966960" y="1600200"/>
            <a:ext cx="8458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minutos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da aula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7F9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8256" y="18196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988" y="19613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04672" y="3063240"/>
            <a:ext cx="109728" cy="109728"/>
          </a:xfrm>
          <a:prstGeom prst="ellipse">
            <a:avLst/>
          </a:prstGeom>
          <a:solidFill>
            <a:srgbClr val="FF6B4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926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Lista: estrutura linear, dinâmica e flexível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4672" y="3840480"/>
            <a:ext cx="109728" cy="109728"/>
          </a:xfrm>
          <a:prstGeom prst="ellipse">
            <a:avLst/>
          </a:prstGeom>
          <a:solidFill>
            <a:srgbClr val="FF6B47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703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Sequencial (vetor) vs. encadeada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7F9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97296" y="18196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s/plu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196138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553712" y="3063240"/>
            <a:ext cx="109728" cy="109728"/>
          </a:xfrm>
          <a:prstGeom prst="ellipse">
            <a:avLst/>
          </a:prstGeom>
          <a:solidFill>
            <a:srgbClr val="FF6B47"/>
          </a:solidFill>
          <a:ln/>
        </p:spPr>
      </p:sp>
      <p:sp>
        <p:nvSpPr>
          <p:cNvPr id="17" name="Text 13"/>
          <p:cNvSpPr/>
          <p:nvPr/>
        </p:nvSpPr>
        <p:spPr>
          <a:xfrm>
            <a:off x="4754880" y="2926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e meio: O(n) — deslocam elementos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53712" y="3840480"/>
            <a:ext cx="109728" cy="109728"/>
          </a:xfrm>
          <a:prstGeom prst="ellipse">
            <a:avLst/>
          </a:prstGeom>
          <a:solidFill>
            <a:srgbClr val="FF6B47"/>
          </a:solidFill>
          <a:ln/>
        </p:spPr>
      </p:sp>
      <p:sp>
        <p:nvSpPr>
          <p:cNvPr id="19" name="Text 15"/>
          <p:cNvSpPr/>
          <p:nvPr/>
        </p:nvSpPr>
        <p:spPr>
          <a:xfrm>
            <a:off x="4754880" y="3703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Fim: O(1) — sem deslocamento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53712" y="4617720"/>
            <a:ext cx="109728" cy="109728"/>
          </a:xfrm>
          <a:prstGeom prst="ellipse">
            <a:avLst/>
          </a:prstGeom>
          <a:solidFill>
            <a:srgbClr val="FF6B47"/>
          </a:solidFill>
          <a:ln/>
        </p:spPr>
      </p:sp>
      <p:sp>
        <p:nvSpPr>
          <p:cNvPr id="21" name="Text 17"/>
          <p:cNvSpPr/>
          <p:nvPr/>
        </p:nvSpPr>
        <p:spPr>
          <a:xfrm>
            <a:off x="4754880" y="4480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Ordenada: busca da posição + O(n)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046720" y="15087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7F9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546336" y="18196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icons/minu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068" y="1961388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2960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e busca</a:t>
            </a:r>
            <a:endParaRPr lang="en-US" sz="1550" dirty="0"/>
          </a:p>
        </p:txBody>
      </p:sp>
      <p:sp>
        <p:nvSpPr>
          <p:cNvPr id="26" name="Shape 21"/>
          <p:cNvSpPr/>
          <p:nvPr/>
        </p:nvSpPr>
        <p:spPr>
          <a:xfrm>
            <a:off x="8302752" y="3063240"/>
            <a:ext cx="109728" cy="109728"/>
          </a:xfrm>
          <a:prstGeom prst="ellipse">
            <a:avLst/>
          </a:prstGeom>
          <a:solidFill>
            <a:srgbClr val="FF6B47"/>
          </a:solidFill>
          <a:ln/>
        </p:spPr>
      </p:sp>
      <p:sp>
        <p:nvSpPr>
          <p:cNvPr id="27" name="Text 22"/>
          <p:cNvSpPr/>
          <p:nvPr/>
        </p:nvSpPr>
        <p:spPr>
          <a:xfrm>
            <a:off x="8503920" y="2926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e meio: O(n) — deslocam elementos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302752" y="3840480"/>
            <a:ext cx="109728" cy="109728"/>
          </a:xfrm>
          <a:prstGeom prst="ellipse">
            <a:avLst/>
          </a:prstGeom>
          <a:solidFill>
            <a:srgbClr val="FF6B47"/>
          </a:solidFill>
          <a:ln/>
        </p:spPr>
      </p:sp>
      <p:sp>
        <p:nvSpPr>
          <p:cNvPr id="29" name="Text 24"/>
          <p:cNvSpPr/>
          <p:nvPr/>
        </p:nvSpPr>
        <p:spPr>
          <a:xfrm>
            <a:off x="8503920" y="3703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Fim: O(1) — sem deslocamento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302752" y="4617720"/>
            <a:ext cx="109728" cy="109728"/>
          </a:xfrm>
          <a:prstGeom prst="ellipse">
            <a:avLst/>
          </a:prstGeom>
          <a:solidFill>
            <a:srgbClr val="FF6B47"/>
          </a:solidFill>
          <a:ln/>
        </p:spPr>
      </p:sp>
      <p:sp>
        <p:nvSpPr>
          <p:cNvPr id="31" name="Text 26"/>
          <p:cNvSpPr/>
          <p:nvPr/>
        </p:nvSpPr>
        <p:spPr>
          <a:xfrm>
            <a:off x="8503920" y="4480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linear: O(1) a O(n)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640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17152" y="640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0384" y="640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43616" y="640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6B47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40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C3B7A"/>
          </a:solidFill>
          <a:ln w="12700">
            <a:solidFill>
              <a:srgbClr val="3B4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148840"/>
            <a:ext cx="1188720" cy="1188720"/>
          </a:xfrm>
          <a:prstGeom prst="ellipse">
            <a:avLst/>
          </a:prstGeom>
          <a:solidFill>
            <a:srgbClr val="FF6B47"/>
          </a:solidFill>
          <a:ln/>
        </p:spPr>
      </p:sp>
      <p:pic>
        <p:nvPicPr>
          <p:cNvPr id="8" name="Image 0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44602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5943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" y="4846320"/>
            <a:ext cx="2011680" cy="0"/>
          </a:xfrm>
          <a:prstGeom prst="line">
            <a:avLst/>
          </a:prstGeom>
          <a:noFill/>
          <a:ln w="38100">
            <a:solidFill>
              <a:srgbClr val="FF6B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029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David Alves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— Listas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2418</Words>
  <Application>Microsoft Office PowerPoint</Application>
  <PresentationFormat>Widescreen</PresentationFormat>
  <Paragraphs>571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Ensina Mais Sorriso</cp:lastModifiedBy>
  <cp:revision>4</cp:revision>
  <dcterms:created xsi:type="dcterms:W3CDTF">2026-08-19T01:38:18Z</dcterms:created>
  <dcterms:modified xsi:type="dcterms:W3CDTF">2026-08-19T19:37:44Z</dcterms:modified>
</cp:coreProperties>
</file>